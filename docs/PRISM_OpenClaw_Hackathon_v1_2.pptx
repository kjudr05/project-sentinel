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72" r:id="rId2"/>
    <p:sldId id="257" r:id="rId3"/>
    <p:sldId id="258" r:id="rId4"/>
    <p:sldId id="259" r:id="rId5"/>
    <p:sldId id="260" r:id="rId6"/>
    <p:sldId id="273" r:id="rId7"/>
    <p:sldId id="261" r:id="rId8"/>
    <p:sldId id="272" r:id="rId9"/>
    <p:sldId id="374" r:id="rId10"/>
    <p:sldId id="373" r:id="rId11"/>
    <p:sldId id="378" r:id="rId12"/>
    <p:sldId id="375" r:id="rId13"/>
    <p:sldId id="376" r:id="rId14"/>
    <p:sldId id="3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1B25"/>
    <a:srgbClr val="0094DA"/>
    <a:srgbClr val="1E6AA3"/>
    <a:srgbClr val="2481C8"/>
    <a:srgbClr val="289DD3"/>
    <a:srgbClr val="237EBF"/>
    <a:srgbClr val="006CBF"/>
    <a:srgbClr val="2276B7"/>
    <a:srgbClr val="237E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4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C633E-BA24-4D9D-93C7-6B49BFADC3D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ADF92-1CF1-4B9D-9F21-7F6EF45A4C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735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models: 40 billion parameters doesn’t work. Might need 300 billion Param</a:t>
            </a:r>
          </a:p>
          <a:p>
            <a:r>
              <a:rPr lang="en-US" dirty="0"/>
              <a:t>Caffeinate – Mac Mini function needs to be defined and enabled.</a:t>
            </a:r>
          </a:p>
          <a:p>
            <a:r>
              <a:rPr lang="en-US" dirty="0"/>
              <a:t>Soul.md, agents.md, user.md, heartbeat.md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sensitive – heartbeat is used</a:t>
            </a:r>
          </a:p>
          <a:p>
            <a:r>
              <a:rPr lang="en-US" dirty="0"/>
              <a:t>Most people disable heartbeat and enable cron jobs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</a:t>
            </a:r>
          </a:p>
          <a:p>
            <a:r>
              <a:rPr lang="en-IN" dirty="0"/>
              <a:t>Step 1: Message arrives (or heartbeat/cron fires) → Gateway receives it.</a:t>
            </a:r>
          </a:p>
          <a:p>
            <a:r>
              <a:rPr lang="en-IN" dirty="0"/>
              <a:t>Step 2: Gateway routes to correct session/agent → loads memory files + current context (If user hasn’t specified, its set by Orchestrator (main agent))</a:t>
            </a:r>
          </a:p>
          <a:p>
            <a:r>
              <a:rPr lang="en-IN" dirty="0"/>
              <a:t>Step 3: Agent Core assembles full prompt → calls LLM → gets plan + tool calls. (Retrieves memory, check logs, workspace)</a:t>
            </a:r>
          </a:p>
          <a:p>
            <a:r>
              <a:rPr lang="en-IN" dirty="0"/>
              <a:t>Step 4: Tools execute (locally or via sandbox) → results fed back into loop.</a:t>
            </a:r>
          </a:p>
          <a:p>
            <a:r>
              <a:rPr lang="en-IN" dirty="0"/>
              <a:t>Step 5: Final response (Actions like code generation, App creation, device control, command terminals) (text, image, file, Canvas update) routed back via original channel.  State (memory, history) persisted to disk.</a:t>
            </a:r>
          </a:p>
          <a:p>
            <a:r>
              <a:rPr lang="en-IN" dirty="0"/>
              <a:t>Step6: Logs all the stuff into Session 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</a:t>
            </a:r>
          </a:p>
          <a:p>
            <a:r>
              <a:rPr lang="en-IN" dirty="0"/>
              <a:t>Step 1: Message arrives (or heartbeat/cron fires) → Gateway receives it.</a:t>
            </a:r>
          </a:p>
          <a:p>
            <a:r>
              <a:rPr lang="en-IN" dirty="0"/>
              <a:t>Step 2: Gateway routes to correct session/agent → loads memory files + current context (If user hasn’t specified, its set by Orchestrator (main agent))</a:t>
            </a:r>
          </a:p>
          <a:p>
            <a:r>
              <a:rPr lang="en-IN" dirty="0"/>
              <a:t>Step 3: Agent Core assembles full prompt → calls LLM → gets plan + tool calls. (Retrieves memory, check logs, workspace)</a:t>
            </a:r>
          </a:p>
          <a:p>
            <a:r>
              <a:rPr lang="en-IN" dirty="0"/>
              <a:t>Step 4: Tools execute (locally or via sandbox) → results fed back into loop.</a:t>
            </a:r>
          </a:p>
          <a:p>
            <a:r>
              <a:rPr lang="en-IN" dirty="0"/>
              <a:t>Step 5: Final response (Actions like code generation, App creation, device control, command terminals) (text, image, file, Canvas update) routed back via original channel.  State (memory, history) persisted to disk.</a:t>
            </a:r>
          </a:p>
          <a:p>
            <a:r>
              <a:rPr lang="en-IN" dirty="0"/>
              <a:t>Step6: Logs all the stuff into Session 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7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series – chipset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392FF-CD18-F748-B63E-215DB87D52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67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27E5-87D5-4D65-8796-9DE363F9F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DC6AC-8E09-464D-B509-640F7AF36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29E08-A587-4537-8D98-60DDE0EF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8DE2E-075F-444E-A0A9-07C1703EC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95B3A-CF6E-4101-A2F4-43FBFBA83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577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7E6EE-68B3-47D7-8D7D-C06B13A07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9B59-5AEA-4341-9A05-DCD364FDE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592C0-CB6D-43A7-AC86-280B9FD3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97963-17D5-4BFF-987F-F3FA8227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E7F2A-C3E0-45AD-BCA9-52D606E0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093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212B-5FF5-44BC-A593-CFAB2B9F7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E22B4-3188-4315-B620-048988364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AE891-7E66-47B2-B42A-995EB9A3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BB648-B785-4EF1-8B65-CD7F92FB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B292-C444-433E-8796-07F1723A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68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F859E-F788-4D9D-A004-20B0BBDA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5AD87-7379-47B3-A225-577B1C0ED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07DE9-8ABC-445A-A6AC-2DEF07449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4F82A-C526-4F9F-9FF2-58C75D7D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D9A26-763E-41D5-B4BD-DC81CA8D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4CC0C-7BE7-4E8E-9823-C45C470B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64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EAD39-BF8B-487D-B624-67FB9F94C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033D4-AE35-47F1-81C0-F039CC8EA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D6EBB-86B7-43F6-8D47-5350B55B6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1646B-F966-4AAC-8AAF-F60BB173A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C7B835-8BA6-4864-97AF-037F6EEB6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98B3C-4626-482D-9B4A-670419E67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48BB-0BC5-46E9-9B13-E2A7DEAD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D98A3C-ADDB-4C0B-B065-56C31394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59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2C9E-956F-4788-8C60-4976259AE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A3418-7CF8-4A31-85B2-281B5B5E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89DED-0744-47BF-A254-4FFD0D84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8D9EA-6D3A-4B92-A4EA-F597DEDA4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32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801FEB-B78B-4180-9E38-FB4D0BF6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1FEBF-7658-4E97-8B82-B1495CD9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7B5DB-A023-47BC-BD44-B42C7F1D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4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D2E5-2F83-4552-95C9-E839DB3CC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E7C39-9986-4393-AFAD-028B1A9B4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46DF2-CDC6-47FA-818B-C9A8F0146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71860-5155-46F6-AE87-FAF35297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BFBC7-F573-48F8-A00F-B457E49D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64382-D5DA-4168-BF48-8297090C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632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B7A6-3E4C-44C8-8FBE-965A248D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FB19B9-2BEF-4FF7-92A6-BC7BD31D5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9FF10-F00D-4E88-BCFC-9A36BF092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688F7-6772-4440-ABF3-3742D8CE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76D89-AF31-4F65-9E3F-03A573FF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C5781-78E5-44D2-97EB-1FE0241F8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9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D475-5BD7-4B43-8FE8-39EA3E6F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F52A9-A6A9-447B-902B-93E1531F7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318B8-C6AF-470F-980F-F71FB0F0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3AAC2-0215-4EC2-AAAF-F1B689537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A87DB-E466-4949-AAC9-24F03847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085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1D23B-4757-4B76-879B-3FD869F9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7DC42-5644-4EEB-B1D4-DF444B0E6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B6819-5636-49A7-849E-A52C93E29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3054-A2E7-496B-90B5-D4FB0A37E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A03A8-4A07-44B8-80E0-95E34AF3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09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40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014371-6EA8-4514-9999-F6B209ACE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D0564-ABCD-4E66-BC45-86288425B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F18D7-83F9-4756-99AE-2FB48C65C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83580-D930-4872-A0FD-498F855BAC9E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67D63-E532-4695-800D-A165379D9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C1311-F1A3-4CC4-984F-48177C107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DA368-954F-430A-B546-8590835310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73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microsoft.com/office/2007/relationships/hdphoto" Target="../media/hdphoto1.wdp"/><Relationship Id="rId18" Type="http://schemas.openxmlformats.org/officeDocument/2006/relationships/image" Target="../media/image15.png"/><Relationship Id="rId26" Type="http://schemas.microsoft.com/office/2007/relationships/hdphoto" Target="../media/hdphoto7.wdp"/><Relationship Id="rId3" Type="http://schemas.openxmlformats.org/officeDocument/2006/relationships/image" Target="../media/image4.png"/><Relationship Id="rId21" Type="http://schemas.microsoft.com/office/2007/relationships/hdphoto" Target="../media/hdphoto5.wdp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17" Type="http://schemas.openxmlformats.org/officeDocument/2006/relationships/image" Target="../media/image14.png"/><Relationship Id="rId25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1.png"/><Relationship Id="rId24" Type="http://schemas.microsoft.com/office/2007/relationships/hdphoto" Target="../media/hdphoto6.wdp"/><Relationship Id="rId32" Type="http://schemas.openxmlformats.org/officeDocument/2006/relationships/image" Target="../media/image24.png"/><Relationship Id="rId5" Type="http://schemas.openxmlformats.org/officeDocument/2006/relationships/image" Target="../media/image6.png"/><Relationship Id="rId15" Type="http://schemas.microsoft.com/office/2007/relationships/hdphoto" Target="../media/hdphoto3.wdp"/><Relationship Id="rId23" Type="http://schemas.openxmlformats.org/officeDocument/2006/relationships/image" Target="../media/image18.png"/><Relationship Id="rId28" Type="http://schemas.openxmlformats.org/officeDocument/2006/relationships/image" Target="../media/image21.png"/><Relationship Id="rId10" Type="http://schemas.microsoft.com/office/2007/relationships/hdphoto" Target="../media/hdphoto2.wdp"/><Relationship Id="rId19" Type="http://schemas.microsoft.com/office/2007/relationships/hdphoto" Target="../media/hdphoto4.wdp"/><Relationship Id="rId31" Type="http://schemas.openxmlformats.org/officeDocument/2006/relationships/image" Target="../media/image23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2.png"/><Relationship Id="rId22" Type="http://schemas.openxmlformats.org/officeDocument/2006/relationships/image" Target="../media/image17.png"/><Relationship Id="rId27" Type="http://schemas.openxmlformats.org/officeDocument/2006/relationships/image" Target="../media/image20.png"/><Relationship Id="rId30" Type="http://schemas.microsoft.com/office/2007/relationships/hdphoto" Target="../media/hdphoto8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microsoft.com/office/2007/relationships/hdphoto" Target="../media/hdphoto9.wdp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25.png"/><Relationship Id="rId21" Type="http://schemas.openxmlformats.org/officeDocument/2006/relationships/image" Target="../media/image37.svg"/><Relationship Id="rId7" Type="http://schemas.microsoft.com/office/2007/relationships/hdphoto" Target="../media/hdphoto7.wdp"/><Relationship Id="rId12" Type="http://schemas.openxmlformats.org/officeDocument/2006/relationships/image" Target="../media/image29.png"/><Relationship Id="rId17" Type="http://schemas.openxmlformats.org/officeDocument/2006/relationships/image" Target="../media/image33.svg"/><Relationship Id="rId25" Type="http://schemas.openxmlformats.org/officeDocument/2006/relationships/image" Target="../media/image41.svg"/><Relationship Id="rId2" Type="http://schemas.openxmlformats.org/officeDocument/2006/relationships/image" Target="../media/image2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microsoft.com/office/2007/relationships/hdphoto" Target="../media/hdphoto5.wdp"/><Relationship Id="rId24" Type="http://schemas.openxmlformats.org/officeDocument/2006/relationships/image" Target="../media/image40.png"/><Relationship Id="rId5" Type="http://schemas.openxmlformats.org/officeDocument/2006/relationships/image" Target="../media/image27.png"/><Relationship Id="rId15" Type="http://schemas.openxmlformats.org/officeDocument/2006/relationships/image" Target="../media/image31.svg"/><Relationship Id="rId23" Type="http://schemas.openxmlformats.org/officeDocument/2006/relationships/image" Target="../media/image39.svg"/><Relationship Id="rId10" Type="http://schemas.openxmlformats.org/officeDocument/2006/relationships/image" Target="../media/image16.png"/><Relationship Id="rId19" Type="http://schemas.openxmlformats.org/officeDocument/2006/relationships/image" Target="../media/image35.svg"/><Relationship Id="rId4" Type="http://schemas.openxmlformats.org/officeDocument/2006/relationships/image" Target="../media/image26.png"/><Relationship Id="rId9" Type="http://schemas.microsoft.com/office/2007/relationships/hdphoto" Target="../media/hdphoto6.wdp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microsoft.com/office/2007/relationships/hdphoto" Target="../media/hdphoto10.wdp"/><Relationship Id="rId10" Type="http://schemas.openxmlformats.org/officeDocument/2006/relationships/image" Target="../media/image52.sv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orms.gle/c2zfsVacJQaMwnGK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950690" y="1910254"/>
            <a:ext cx="5132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54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315817" y="2786588"/>
            <a:ext cx="44021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9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963564" y="4787163"/>
            <a:ext cx="51324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The </a:t>
            </a:r>
            <a:r>
              <a:rPr lang="en-US" sz="2800" b="1" dirty="0" err="1">
                <a:latin typeface="Berlin Sans FB Demi" panose="020E0802020502020306" pitchFamily="34" charset="0"/>
                <a:ea typeface="SamsungOne 800" panose="020B0903030303020204" pitchFamily="34" charset="0"/>
              </a:rPr>
              <a:t>OpenClaw</a:t>
            </a:r>
            <a:r>
              <a:rPr lang="en-US" sz="28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 Hackathon</a:t>
            </a:r>
          </a:p>
          <a:p>
            <a:pPr algn="ctr"/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20</a:t>
            </a:r>
            <a:r>
              <a:rPr lang="en-US" sz="2800" b="1" baseline="30000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th</a:t>
            </a:r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April – 20</a:t>
            </a:r>
            <a:r>
              <a:rPr lang="en-US" sz="2800" b="1" baseline="30000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th</a:t>
            </a:r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May 2026</a:t>
            </a:r>
          </a:p>
          <a:p>
            <a:pPr algn="ctr"/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Prizes worth ₹80,000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2E5F7F-79C1-4C27-ABF8-24A2AACC66F6}"/>
              </a:ext>
            </a:extLst>
          </p:cNvPr>
          <p:cNvGrpSpPr/>
          <p:nvPr/>
        </p:nvGrpSpPr>
        <p:grpSpPr>
          <a:xfrm>
            <a:off x="639452" y="805543"/>
            <a:ext cx="6115133" cy="963239"/>
            <a:chOff x="1194624" y="805543"/>
            <a:chExt cx="6115133" cy="963239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4624" y="805543"/>
              <a:ext cx="1468718" cy="96323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6F8DD3-4376-48A6-844E-398CEEDFD4EB}"/>
                </a:ext>
              </a:extLst>
            </p:cNvPr>
            <p:cNvSpPr txBox="1"/>
            <p:nvPr/>
          </p:nvSpPr>
          <p:spPr>
            <a:xfrm>
              <a:off x="2221970" y="998337"/>
              <a:ext cx="508778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50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INTRODUCTION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Track History</a:t>
            </a:r>
            <a:endParaRPr lang="en-US" sz="4267" dirty="0"/>
          </a:p>
        </p:txBody>
      </p:sp>
      <p:sp>
        <p:nvSpPr>
          <p:cNvPr id="6" name="Shape 4"/>
          <p:cNvSpPr/>
          <p:nvPr/>
        </p:nvSpPr>
        <p:spPr>
          <a:xfrm>
            <a:off x="487680" y="1767840"/>
            <a:ext cx="5242560" cy="45720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9600" y="1889760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Agent Branch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7136" y="2560320"/>
            <a:ext cx="4815840" cy="3596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533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as Clawdbot — Nov 2025</a:t>
            </a:r>
            <a:endParaRPr lang="en-US" sz="15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533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Rebranded to Moltbot</a:t>
            </a:r>
            <a:endParaRPr lang="en-US" sz="15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533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OpenClaw — Jan 2026</a:t>
            </a:r>
            <a:endParaRPr lang="en-US" sz="15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533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247K+ GitHub stars by Mar 2026</a:t>
            </a:r>
            <a:endParaRPr lang="en-US" sz="15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533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Peter Steinberger joined OpenAI (Feb 2026)</a:t>
            </a:r>
            <a:endParaRPr lang="en-US" sz="1533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533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governed by OpenClaw Foundation</a:t>
            </a:r>
            <a:endParaRPr lang="en-US" sz="1533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5D58AFC3-8660-4DD5-88E2-28A4EE03BC45}"/>
              </a:ext>
            </a:extLst>
          </p:cNvPr>
          <p:cNvSpPr/>
          <p:nvPr/>
        </p:nvSpPr>
        <p:spPr>
          <a:xfrm>
            <a:off x="5651199" y="1767840"/>
            <a:ext cx="5242560" cy="45720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66" dirty="0">
                <a:solidFill>
                  <a:srgbClr val="000000">
                    <a:alpha val="15000"/>
                  </a:srgbClr>
                </a:solidFill>
              </a:rPr>
              <a:t>🦞</a:t>
            </a:r>
            <a:endParaRPr lang="en-US" sz="2666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CORE CONCEPT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Sovereignty — The Lobster Way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474720" cy="3169920"/>
          </a:xfrm>
          <a:prstGeom prst="rect">
            <a:avLst/>
          </a:prstGeom>
          <a:solidFill>
            <a:srgbClr val="112236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50720"/>
            <a:ext cx="347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33" dirty="0">
                <a:solidFill>
                  <a:srgbClr val="000000"/>
                </a:solidFill>
              </a:rPr>
              <a:t>🪣</a:t>
            </a:r>
            <a:endParaRPr lang="en-US" sz="4533" dirty="0"/>
          </a:p>
        </p:txBody>
      </p:sp>
      <p:sp>
        <p:nvSpPr>
          <p:cNvPr id="8" name="Text 6"/>
          <p:cNvSpPr/>
          <p:nvPr/>
        </p:nvSpPr>
        <p:spPr>
          <a:xfrm>
            <a:off x="670560" y="2804160"/>
            <a:ext cx="3230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Tank</a:t>
            </a:r>
            <a:endParaRPr lang="en-US" sz="2267" dirty="0"/>
          </a:p>
        </p:txBody>
      </p:sp>
      <p:sp>
        <p:nvSpPr>
          <p:cNvPr id="9" name="Text 7"/>
          <p:cNvSpPr/>
          <p:nvPr/>
        </p:nvSpPr>
        <p:spPr>
          <a:xfrm>
            <a:off x="670560" y="3230880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Hardware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mini, VPS, or homelab server. The environment the agent lives 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8160" y="1828800"/>
            <a:ext cx="3474720" cy="3169920"/>
          </a:xfrm>
          <a:prstGeom prst="rect">
            <a:avLst/>
          </a:prstGeom>
          <a:solidFill>
            <a:srgbClr val="112236"/>
          </a:solidFill>
          <a:ln w="12700">
            <a:solidFill>
              <a:srgbClr val="48CA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28160" y="1950720"/>
            <a:ext cx="347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33" dirty="0">
                <a:solidFill>
                  <a:srgbClr val="000000"/>
                </a:solidFill>
              </a:rPr>
              <a:t>🧠</a:t>
            </a:r>
            <a:endParaRPr lang="en-US" sz="4533" dirty="0"/>
          </a:p>
        </p:txBody>
      </p:sp>
      <p:sp>
        <p:nvSpPr>
          <p:cNvPr id="13" name="Text 11"/>
          <p:cNvSpPr/>
          <p:nvPr/>
        </p:nvSpPr>
        <p:spPr>
          <a:xfrm>
            <a:off x="4450080" y="2804160"/>
            <a:ext cx="3230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</a:t>
            </a:r>
            <a:endParaRPr lang="en-US" sz="2267" dirty="0"/>
          </a:p>
        </p:txBody>
      </p:sp>
      <p:sp>
        <p:nvSpPr>
          <p:cNvPr id="14" name="Text 12"/>
          <p:cNvSpPr/>
          <p:nvPr/>
        </p:nvSpPr>
        <p:spPr>
          <a:xfrm>
            <a:off x="4450080" y="3230880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Keys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451104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(Claude), OpenAI (GPT-4), or local DeepSeek/Llama model.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7680" y="1828800"/>
            <a:ext cx="3474720" cy="3169920"/>
          </a:xfrm>
          <a:prstGeom prst="rect">
            <a:avLst/>
          </a:prstGeom>
          <a:solidFill>
            <a:srgbClr val="112236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07680" y="1950720"/>
            <a:ext cx="34747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33" dirty="0">
                <a:solidFill>
                  <a:srgbClr val="000000"/>
                </a:solidFill>
              </a:rPr>
              <a:t>📜</a:t>
            </a:r>
            <a:endParaRPr lang="en-US" sz="4533" dirty="0"/>
          </a:p>
        </p:txBody>
      </p:sp>
      <p:sp>
        <p:nvSpPr>
          <p:cNvPr id="18" name="Text 16"/>
          <p:cNvSpPr/>
          <p:nvPr/>
        </p:nvSpPr>
        <p:spPr>
          <a:xfrm>
            <a:off x="8229600" y="2804160"/>
            <a:ext cx="3230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2267" dirty="0"/>
          </a:p>
        </p:txBody>
      </p:sp>
      <p:sp>
        <p:nvSpPr>
          <p:cNvPr id="19" name="Text 17"/>
          <p:cNvSpPr/>
          <p:nvPr/>
        </p:nvSpPr>
        <p:spPr>
          <a:xfrm>
            <a:off x="8229600" y="3230880"/>
            <a:ext cx="323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SOUL.md File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8290560" y="36576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personality &amp; behavioral boundaries defined by the user.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5218176"/>
            <a:ext cx="3657600" cy="1097280"/>
          </a:xfrm>
          <a:prstGeom prst="rect">
            <a:avLst/>
          </a:prstGeom>
          <a:solidFill>
            <a:srgbClr val="112236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296" y="5218176"/>
            <a:ext cx="3486912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333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Local Markdown &amp; YAML storage — fully inspectable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4267200" y="5218176"/>
            <a:ext cx="3657600" cy="1097280"/>
          </a:xfrm>
          <a:prstGeom prst="rect">
            <a:avLst/>
          </a:prstGeom>
          <a:solidFill>
            <a:srgbClr val="112236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4736" y="5218176"/>
            <a:ext cx="3486912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333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Always-on persistence — survives restarts &amp; resets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8168640" y="5218176"/>
            <a:ext cx="3657600" cy="1097280"/>
          </a:xfrm>
          <a:prstGeom prst="rect">
            <a:avLst/>
          </a:prstGeom>
          <a:solidFill>
            <a:srgbClr val="112236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66176" y="5218176"/>
            <a:ext cx="3486912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333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No vendor lock-in — swap LLM without losing memory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FEATURES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Autonomy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87680" y="1584960"/>
            <a:ext cx="554736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0560" y="1731264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Supported Channels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670560" y="231648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560" y="231648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52800" y="231648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2800" y="231648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0560" y="298704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560" y="298704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52800" y="298704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800" y="298704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iMessage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0560" y="365760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560" y="365760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52800" y="365760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2800" y="365760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0560" y="432816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560" y="432816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52800" y="432816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2800" y="432816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0560" y="499872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560" y="499872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52800" y="4998720"/>
            <a:ext cx="2438400" cy="512064"/>
          </a:xfrm>
          <a:prstGeom prst="rect">
            <a:avLst/>
          </a:prstGeom>
          <a:solidFill>
            <a:srgbClr val="0D1B2A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2800" y="499872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Chat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39840" y="1584960"/>
            <a:ext cx="54864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37376" y="1645920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</a:rPr>
              <a:t>💓</a:t>
            </a:r>
            <a:endParaRPr lang="en-US" sz="3467" dirty="0"/>
          </a:p>
        </p:txBody>
      </p:sp>
      <p:sp>
        <p:nvSpPr>
          <p:cNvPr id="30" name="Text 28"/>
          <p:cNvSpPr/>
          <p:nvPr/>
        </p:nvSpPr>
        <p:spPr>
          <a:xfrm>
            <a:off x="7254240" y="1658112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Heartbeat</a:t>
            </a:r>
            <a:endParaRPr lang="en-US" sz="1667" dirty="0"/>
          </a:p>
        </p:txBody>
      </p:sp>
      <p:sp>
        <p:nvSpPr>
          <p:cNvPr id="31" name="Text 29"/>
          <p:cNvSpPr/>
          <p:nvPr/>
        </p:nvSpPr>
        <p:spPr>
          <a:xfrm>
            <a:off x="7254240" y="2097024"/>
            <a:ext cx="44500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daemon reads HEARTBEAT.md and acts autonomously — sending reminders or news digests without being prompted.</a:t>
            </a:r>
            <a:endParaRPr lang="en-US" sz="1267" dirty="0"/>
          </a:p>
        </p:txBody>
      </p:sp>
      <p:sp>
        <p:nvSpPr>
          <p:cNvPr id="32" name="Shape 30"/>
          <p:cNvSpPr/>
          <p:nvPr/>
        </p:nvSpPr>
        <p:spPr>
          <a:xfrm>
            <a:off x="6339840" y="3169920"/>
            <a:ext cx="54864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37376" y="3230880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</a:rPr>
              <a:t>🧠</a:t>
            </a:r>
            <a:endParaRPr lang="en-US" sz="3467" dirty="0"/>
          </a:p>
        </p:txBody>
      </p:sp>
      <p:sp>
        <p:nvSpPr>
          <p:cNvPr id="34" name="Text 32"/>
          <p:cNvSpPr/>
          <p:nvPr/>
        </p:nvSpPr>
        <p:spPr>
          <a:xfrm>
            <a:off x="7254240" y="3243072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Memory (Cognitive RAM)</a:t>
            </a:r>
            <a:endParaRPr lang="en-US" sz="1667" dirty="0"/>
          </a:p>
        </p:txBody>
      </p:sp>
      <p:sp>
        <p:nvSpPr>
          <p:cNvPr id="35" name="Text 33"/>
          <p:cNvSpPr/>
          <p:nvPr/>
        </p:nvSpPr>
        <p:spPr>
          <a:xfrm>
            <a:off x="7254240" y="3681984"/>
            <a:ext cx="44500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relevant context from disk into the LLM window as needed. Handles projects beyond single-session limits.</a:t>
            </a:r>
            <a:endParaRPr lang="en-US" sz="1267" dirty="0"/>
          </a:p>
        </p:txBody>
      </p:sp>
      <p:sp>
        <p:nvSpPr>
          <p:cNvPr id="36" name="Shape 34"/>
          <p:cNvSpPr/>
          <p:nvPr/>
        </p:nvSpPr>
        <p:spPr>
          <a:xfrm>
            <a:off x="6339840" y="4754880"/>
            <a:ext cx="548640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8CAE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37376" y="4815840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</a:rPr>
              <a:t>📎</a:t>
            </a:r>
            <a:endParaRPr lang="en-US" sz="3467" dirty="0"/>
          </a:p>
        </p:txBody>
      </p:sp>
      <p:sp>
        <p:nvSpPr>
          <p:cNvPr id="38" name="Text 36"/>
          <p:cNvSpPr/>
          <p:nvPr/>
        </p:nvSpPr>
        <p:spPr>
          <a:xfrm>
            <a:off x="7254240" y="4828032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Document Support</a:t>
            </a:r>
            <a:endParaRPr lang="en-US" sz="1667" dirty="0"/>
          </a:p>
        </p:txBody>
      </p:sp>
      <p:sp>
        <p:nvSpPr>
          <p:cNvPr id="39" name="Text 37"/>
          <p:cNvSpPr/>
          <p:nvPr/>
        </p:nvSpPr>
        <p:spPr>
          <a:xfrm>
            <a:off x="7254240" y="5266944"/>
            <a:ext cx="445008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and sends images, audio, and files. Supports Live Canvas (A2UI) for dynamic interactive dashboards.</a:t>
            </a:r>
            <a:endParaRPr lang="en-US" sz="12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ARCHITECTURE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5-Layer Stack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87680" y="1645920"/>
            <a:ext cx="11216640" cy="853440"/>
          </a:xfrm>
          <a:prstGeom prst="rect">
            <a:avLst/>
          </a:prstGeom>
          <a:solidFill>
            <a:srgbClr val="112236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1645920"/>
            <a:ext cx="670560" cy="8534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680" y="1645920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D1B2A"/>
                </a:solidFill>
              </a:rPr>
              <a:t>1</a:t>
            </a:r>
            <a:endParaRPr lang="en-US" sz="2667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💬</a:t>
            </a:r>
            <a:endParaRPr lang="en-US" sz="2933" dirty="0"/>
          </a:p>
        </p:txBody>
      </p:sp>
      <p:sp>
        <p:nvSpPr>
          <p:cNvPr id="10" name="Text 8"/>
          <p:cNvSpPr/>
          <p:nvPr/>
        </p:nvSpPr>
        <p:spPr>
          <a:xfrm>
            <a:off x="2011680" y="1706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2011680" y="2084832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Discord · Slack · Telegram · iMessage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487680" y="2645664"/>
            <a:ext cx="11216640" cy="853440"/>
          </a:xfrm>
          <a:prstGeom prst="rect">
            <a:avLst/>
          </a:prstGeom>
          <a:solidFill>
            <a:srgbClr val="112236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680" y="2645664"/>
            <a:ext cx="670560" cy="85344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680" y="2645664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D1B2A"/>
                </a:solidFill>
              </a:rPr>
              <a:t>2</a:t>
            </a:r>
            <a:endParaRPr lang="en-US" sz="2667" dirty="0"/>
          </a:p>
        </p:txBody>
      </p:sp>
      <p:sp>
        <p:nvSpPr>
          <p:cNvPr id="15" name="Text 13"/>
          <p:cNvSpPr/>
          <p:nvPr/>
        </p:nvSpPr>
        <p:spPr>
          <a:xfrm>
            <a:off x="1280160" y="2645664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🔌</a:t>
            </a:r>
            <a:endParaRPr lang="en-US" sz="2933" dirty="0"/>
          </a:p>
        </p:txBody>
      </p:sp>
      <p:sp>
        <p:nvSpPr>
          <p:cNvPr id="16" name="Text 14"/>
          <p:cNvSpPr/>
          <p:nvPr/>
        </p:nvSpPr>
        <p:spPr>
          <a:xfrm>
            <a:off x="2011680" y="27066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Adapter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2011680" y="3084576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ProtocolAdapter — normalizes disparate platforms into unified agent interface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487680" y="3645408"/>
            <a:ext cx="11216640" cy="853440"/>
          </a:xfrm>
          <a:prstGeom prst="rect">
            <a:avLst/>
          </a:prstGeom>
          <a:solidFill>
            <a:srgbClr val="11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680" y="3645408"/>
            <a:ext cx="670560" cy="853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680" y="3645408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D1B2A"/>
                </a:solidFill>
              </a:rPr>
              <a:t>3</a:t>
            </a:r>
            <a:endParaRPr lang="en-US" sz="2667" dirty="0"/>
          </a:p>
        </p:txBody>
      </p:sp>
      <p:sp>
        <p:nvSpPr>
          <p:cNvPr id="21" name="Text 19"/>
          <p:cNvSpPr/>
          <p:nvPr/>
        </p:nvSpPr>
        <p:spPr>
          <a:xfrm>
            <a:off x="1280160" y="3645408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⚙️</a:t>
            </a:r>
            <a:endParaRPr lang="en-US" sz="2933" dirty="0"/>
          </a:p>
        </p:txBody>
      </p:sp>
      <p:sp>
        <p:nvSpPr>
          <p:cNvPr id="22" name="Text 20"/>
          <p:cNvSpPr/>
          <p:nvPr/>
        </p:nvSpPr>
        <p:spPr>
          <a:xfrm>
            <a:off x="2011680" y="3706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(Control Plane)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2011680" y="4084320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TypeScript/Node.js WebSocket server — routing, auth, session management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487680" y="4645152"/>
            <a:ext cx="11216640" cy="853440"/>
          </a:xfrm>
          <a:prstGeom prst="rect">
            <a:avLst/>
          </a:prstGeom>
          <a:solidFill>
            <a:srgbClr val="112236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680" y="4645152"/>
            <a:ext cx="670560" cy="85344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680" y="4645152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D1B2A"/>
                </a:solidFill>
              </a:rPr>
              <a:t>4</a:t>
            </a:r>
            <a:endParaRPr lang="en-US" sz="2667" dirty="0"/>
          </a:p>
        </p:txBody>
      </p:sp>
      <p:sp>
        <p:nvSpPr>
          <p:cNvPr id="27" name="Text 25"/>
          <p:cNvSpPr/>
          <p:nvPr/>
        </p:nvSpPr>
        <p:spPr>
          <a:xfrm>
            <a:off x="1280160" y="4645152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🧠</a:t>
            </a:r>
            <a:endParaRPr lang="en-US" sz="2933" dirty="0"/>
          </a:p>
        </p:txBody>
      </p:sp>
      <p:sp>
        <p:nvSpPr>
          <p:cNvPr id="28" name="Text 26"/>
          <p:cNvSpPr/>
          <p:nvPr/>
        </p:nvSpPr>
        <p:spPr>
          <a:xfrm>
            <a:off x="2011680" y="47061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Engine (Agent Loop)</a:t>
            </a:r>
            <a:endParaRPr lang="en-US" sz="1733" dirty="0"/>
          </a:p>
        </p:txBody>
      </p:sp>
      <p:sp>
        <p:nvSpPr>
          <p:cNvPr id="29" name="Text 27"/>
          <p:cNvSpPr/>
          <p:nvPr/>
        </p:nvSpPr>
        <p:spPr>
          <a:xfrm>
            <a:off x="2011680" y="5084064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core embedded as dynamic library for high-speed event-driven execution</a:t>
            </a:r>
            <a:endParaRPr lang="en-US" sz="1267" dirty="0"/>
          </a:p>
        </p:txBody>
      </p:sp>
      <p:sp>
        <p:nvSpPr>
          <p:cNvPr id="30" name="Shape 28"/>
          <p:cNvSpPr/>
          <p:nvPr/>
        </p:nvSpPr>
        <p:spPr>
          <a:xfrm>
            <a:off x="487680" y="5644896"/>
            <a:ext cx="11216640" cy="853440"/>
          </a:xfrm>
          <a:prstGeom prst="rect">
            <a:avLst/>
          </a:prstGeom>
          <a:solidFill>
            <a:srgbClr val="11223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680" y="5644896"/>
            <a:ext cx="670560" cy="853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680" y="5644896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D1B2A"/>
                </a:solidFill>
              </a:rPr>
              <a:t>5</a:t>
            </a:r>
            <a:endParaRPr lang="en-US" sz="2667" dirty="0"/>
          </a:p>
        </p:txBody>
      </p:sp>
      <p:sp>
        <p:nvSpPr>
          <p:cNvPr id="33" name="Text 31"/>
          <p:cNvSpPr/>
          <p:nvPr/>
        </p:nvSpPr>
        <p:spPr>
          <a:xfrm>
            <a:off x="1280160" y="5644896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🛠️</a:t>
            </a:r>
            <a:endParaRPr lang="en-US" sz="2933" dirty="0"/>
          </a:p>
        </p:txBody>
      </p:sp>
      <p:sp>
        <p:nvSpPr>
          <p:cNvPr id="34" name="Text 32"/>
          <p:cNvSpPr/>
          <p:nvPr/>
        </p:nvSpPr>
        <p:spPr>
          <a:xfrm>
            <a:off x="2011680" y="57058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Execution Layer</a:t>
            </a:r>
            <a:endParaRPr lang="en-US" sz="1733" dirty="0"/>
          </a:p>
        </p:txBody>
      </p:sp>
      <p:sp>
        <p:nvSpPr>
          <p:cNvPr id="35" name="Text 33"/>
          <p:cNvSpPr/>
          <p:nvPr/>
        </p:nvSpPr>
        <p:spPr>
          <a:xfrm>
            <a:off x="2011680" y="6083808"/>
            <a:ext cx="9509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tools, runs shell commands, manages system actions in isolated sandboxes</a:t>
            </a:r>
            <a:endParaRPr lang="en-US" sz="12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SKILLS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7680" y="5644896"/>
            <a:ext cx="670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D1B2A"/>
                </a:solidFill>
              </a:rPr>
              <a:t>5</a:t>
            </a:r>
            <a:endParaRPr lang="en-US" sz="2667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6C0212-6AB7-4ED3-9AB6-A1082A3B62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9"/>
          <a:stretch/>
        </p:blipFill>
        <p:spPr>
          <a:xfrm>
            <a:off x="300627" y="858981"/>
            <a:ext cx="11590747" cy="599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9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SETUP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Hardware Requirements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87680" y="1706880"/>
            <a:ext cx="3596640" cy="463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7680" y="1828800"/>
            <a:ext cx="359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</a:rPr>
              <a:t>💻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609600" y="2621280"/>
            <a:ext cx="335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0560" y="3169920"/>
            <a:ext cx="3352800" cy="2901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PC or Mac (M-series preferred)</a:t>
            </a:r>
            <a:endParaRPr lang="en-US" sz="1467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 2-core CPU + 4 GB RAM</a:t>
            </a:r>
            <a:endParaRPr lang="en-US" sz="1467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16 GB for multi-agent</a:t>
            </a:r>
            <a:endParaRPr lang="en-US" sz="1467" dirty="0"/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mini or VPS ideal (always-on)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160" y="1706880"/>
            <a:ext cx="3596640" cy="463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28160" y="1828800"/>
            <a:ext cx="359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</a:rPr>
              <a:t>📦</a:t>
            </a:r>
            <a:endParaRPr lang="en-US" sz="3733" dirty="0"/>
          </a:p>
        </p:txBody>
      </p:sp>
      <p:sp>
        <p:nvSpPr>
          <p:cNvPr id="12" name="Text 10"/>
          <p:cNvSpPr/>
          <p:nvPr/>
        </p:nvSpPr>
        <p:spPr>
          <a:xfrm>
            <a:off x="4450080" y="2621280"/>
            <a:ext cx="335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28161" y="3364992"/>
            <a:ext cx="3520708" cy="2901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≥ 22 (mandatory)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TypeScript-based CLI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(safest isolation)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for local models (optional)</a:t>
            </a:r>
          </a:p>
        </p:txBody>
      </p:sp>
      <p:sp>
        <p:nvSpPr>
          <p:cNvPr id="14" name="Shape 12"/>
          <p:cNvSpPr/>
          <p:nvPr/>
        </p:nvSpPr>
        <p:spPr>
          <a:xfrm>
            <a:off x="8168640" y="1706880"/>
            <a:ext cx="3596640" cy="4632960"/>
          </a:xfrm>
          <a:prstGeom prst="rect">
            <a:avLst/>
          </a:prstGeom>
          <a:solidFill>
            <a:srgbClr val="1E293B"/>
          </a:solidFill>
          <a:ln w="19050">
            <a:solidFill>
              <a:srgbClr val="48C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68640" y="1828800"/>
            <a:ext cx="359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dirty="0">
                <a:solidFill>
                  <a:srgbClr val="000000"/>
                </a:solidFill>
              </a:rPr>
              <a:t>🚀</a:t>
            </a:r>
            <a:endParaRPr lang="en-US" sz="3733" dirty="0"/>
          </a:p>
        </p:txBody>
      </p:sp>
      <p:sp>
        <p:nvSpPr>
          <p:cNvPr id="16" name="Text 14"/>
          <p:cNvSpPr/>
          <p:nvPr/>
        </p:nvSpPr>
        <p:spPr>
          <a:xfrm>
            <a:off x="8290560" y="2621280"/>
            <a:ext cx="335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Install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1520" y="3169920"/>
            <a:ext cx="3230880" cy="2901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for Mac/Linux: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-fsSL https://openclaw.ai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/install.sh | bash </a:t>
            </a:r>
          </a:p>
          <a:p>
            <a:pPr marL="457189" indent="-457189">
              <a:spcAft>
                <a:spcPts val="667"/>
              </a:spcAft>
              <a:buSzPct val="100000"/>
              <a:buChar char="•"/>
            </a:pP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Wizard: </a:t>
            </a:r>
            <a:r>
              <a:rPr lang="en-US" sz="1467" dirty="0" err="1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r>
              <a:rPr lang="en-US" sz="1467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onboard --install-daemon</a:t>
            </a:r>
          </a:p>
        </p:txBody>
      </p:sp>
      <p:sp>
        <p:nvSpPr>
          <p:cNvPr id="18" name="Shape 16"/>
          <p:cNvSpPr/>
          <p:nvPr/>
        </p:nvSpPr>
        <p:spPr>
          <a:xfrm>
            <a:off x="487680" y="6400800"/>
            <a:ext cx="1121664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" y="6400800"/>
            <a:ext cx="1109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0D1B2A"/>
                </a:solidFill>
              </a:rPr>
              <a:t>📡  Channel onboarding via guided wizard: WhatsApp (QR scan) · Telegram (BotFather token) · Discord (OAuth2 portal)</a:t>
            </a:r>
            <a:endParaRPr lang="en-US" sz="12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5F0D2F-7951-43A6-BDB3-2C150F8F4812}"/>
              </a:ext>
            </a:extLst>
          </p:cNvPr>
          <p:cNvSpPr txBox="1"/>
          <p:nvPr/>
        </p:nvSpPr>
        <p:spPr>
          <a:xfrm>
            <a:off x="285275" y="831531"/>
            <a:ext cx="3806067" cy="646331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IN" sz="1200" cap="all" spc="300" dirty="0">
              <a:solidFill>
                <a:srgbClr val="0D1B2A"/>
              </a:solidFill>
              <a:latin typeface="SamsungOne 800" panose="020B0903030303020204" pitchFamily="34" charset="0"/>
              <a:ea typeface="SamsungOne 800" panose="020B0903030303020204" pitchFamily="34" charset="0"/>
              <a:cs typeface="+mj-cs"/>
            </a:endParaRPr>
          </a:p>
          <a:p>
            <a:pPr algn="ctr"/>
            <a:r>
              <a:rPr lang="en-IN" sz="1200" cap="all" spc="300" dirty="0">
                <a:solidFill>
                  <a:srgbClr val="0D1B2A"/>
                </a:solidFill>
                <a:latin typeface="SamsungOne 800" panose="020B0903030303020204" pitchFamily="34" charset="0"/>
                <a:ea typeface="SamsungOne 800" panose="020B0903030303020204" pitchFamily="34" charset="0"/>
                <a:cs typeface="+mj-cs"/>
              </a:rPr>
              <a:t>       Mobile-specific</a:t>
            </a:r>
          </a:p>
          <a:p>
            <a:pPr algn="ctr"/>
            <a:endParaRPr lang="en-IN" sz="1200" cap="all" spc="300" dirty="0">
              <a:solidFill>
                <a:srgbClr val="0D1B2A"/>
              </a:solidFill>
              <a:latin typeface="SamsungOne 800" panose="020B0903030303020204" pitchFamily="34" charset="0"/>
              <a:ea typeface="SamsungOne 800" panose="020B0903030303020204" pitchFamily="34" charset="0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00151-9F01-4C9A-9649-037A068AC5C3}"/>
              </a:ext>
            </a:extLst>
          </p:cNvPr>
          <p:cNvSpPr txBox="1"/>
          <p:nvPr/>
        </p:nvSpPr>
        <p:spPr>
          <a:xfrm>
            <a:off x="4192967" y="831530"/>
            <a:ext cx="3806067" cy="646331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IN" sz="1200" cap="all" spc="300" dirty="0">
              <a:solidFill>
                <a:srgbClr val="0D1B2A"/>
              </a:solidFill>
              <a:latin typeface="SamsungOne 800" panose="020B0903030303020204" pitchFamily="34" charset="0"/>
              <a:ea typeface="SamsungOne 800" panose="020B0903030303020204" pitchFamily="34" charset="0"/>
              <a:cs typeface="+mj-cs"/>
            </a:endParaRPr>
          </a:p>
          <a:p>
            <a:pPr algn="ctr"/>
            <a:r>
              <a:rPr lang="en-IN" sz="1200" cap="all" spc="300" dirty="0">
                <a:solidFill>
                  <a:srgbClr val="0D1B2A"/>
                </a:solidFill>
                <a:latin typeface="SamsungOne 800" panose="020B0903030303020204" pitchFamily="34" charset="0"/>
                <a:ea typeface="SamsungOne 800" panose="020B0903030303020204" pitchFamily="34" charset="0"/>
                <a:cs typeface="+mj-cs"/>
              </a:rPr>
              <a:t>       Edge + Cloud</a:t>
            </a:r>
          </a:p>
          <a:p>
            <a:pPr algn="ctr"/>
            <a:endParaRPr lang="en-IN" sz="1200" cap="all" spc="300" dirty="0">
              <a:solidFill>
                <a:srgbClr val="0D1B2A"/>
              </a:solidFill>
              <a:latin typeface="SamsungOne 800" panose="020B0903030303020204" pitchFamily="34" charset="0"/>
              <a:ea typeface="SamsungOne 800" panose="020B0903030303020204" pitchFamily="34" charset="0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203A3-2C13-4BF3-ACC8-14467F8579B4}"/>
              </a:ext>
            </a:extLst>
          </p:cNvPr>
          <p:cNvSpPr txBox="1"/>
          <p:nvPr/>
        </p:nvSpPr>
        <p:spPr>
          <a:xfrm>
            <a:off x="8100660" y="839343"/>
            <a:ext cx="3806067" cy="646331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IN" sz="1200" cap="all" spc="300" dirty="0">
              <a:solidFill>
                <a:srgbClr val="0D1B2A"/>
              </a:solidFill>
              <a:latin typeface="SamsungOne 800" panose="020B0903030303020204" pitchFamily="34" charset="0"/>
              <a:ea typeface="SamsungOne 800" panose="020B0903030303020204" pitchFamily="34" charset="0"/>
              <a:cs typeface="+mj-cs"/>
            </a:endParaRPr>
          </a:p>
          <a:p>
            <a:pPr algn="ctr"/>
            <a:r>
              <a:rPr lang="en-IN" sz="1200" cap="all" spc="300" dirty="0">
                <a:solidFill>
                  <a:srgbClr val="0D1B2A"/>
                </a:solidFill>
                <a:latin typeface="SamsungOne 800" panose="020B0903030303020204" pitchFamily="34" charset="0"/>
                <a:ea typeface="SamsungOne 800" panose="020B0903030303020204" pitchFamily="34" charset="0"/>
                <a:cs typeface="+mj-cs"/>
              </a:rPr>
              <a:t>       Cloud-specific</a:t>
            </a:r>
          </a:p>
          <a:p>
            <a:pPr algn="ctr"/>
            <a:endParaRPr lang="en-IN" sz="1200" cap="all" spc="300" dirty="0">
              <a:solidFill>
                <a:srgbClr val="0D1B2A"/>
              </a:solidFill>
              <a:latin typeface="SamsungOne 800" panose="020B0903030303020204" pitchFamily="34" charset="0"/>
              <a:ea typeface="SamsungOne 800" panose="020B0903030303020204" pitchFamily="34" charset="0"/>
              <a:cs typeface="+mj-cs"/>
            </a:endParaRPr>
          </a:p>
        </p:txBody>
      </p:sp>
      <p:pic>
        <p:nvPicPr>
          <p:cNvPr id="11" name="Graphic 10" descr="Smart Phone with solid fill">
            <a:extLst>
              <a:ext uri="{FF2B5EF4-FFF2-40B4-BE49-F238E27FC236}">
                <a16:creationId xmlns:a16="http://schemas.microsoft.com/office/drawing/2014/main" id="{6E888C19-D251-4E2D-B908-AAD41794C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415" y="905765"/>
            <a:ext cx="566616" cy="566616"/>
          </a:xfrm>
          <a:prstGeom prst="rect">
            <a:avLst/>
          </a:prstGeom>
        </p:spPr>
      </p:pic>
      <p:pic>
        <p:nvPicPr>
          <p:cNvPr id="14" name="Graphic 13" descr="Cloud with solid fill">
            <a:extLst>
              <a:ext uri="{FF2B5EF4-FFF2-40B4-BE49-F238E27FC236}">
                <a16:creationId xmlns:a16="http://schemas.microsoft.com/office/drawing/2014/main" id="{E55D5A2B-AFAB-4900-BD26-B1FB5A8702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00476" y="905765"/>
            <a:ext cx="566616" cy="566616"/>
          </a:xfrm>
          <a:prstGeom prst="rect">
            <a:avLst/>
          </a:prstGeom>
        </p:spPr>
      </p:pic>
      <p:pic>
        <p:nvPicPr>
          <p:cNvPr id="16" name="Graphic 15" descr="Cloud Computing with solid fill">
            <a:extLst>
              <a:ext uri="{FF2B5EF4-FFF2-40B4-BE49-F238E27FC236}">
                <a16:creationId xmlns:a16="http://schemas.microsoft.com/office/drawing/2014/main" id="{5BCB921B-97B9-4AE0-93FF-43A2E608C0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4543" y="905765"/>
            <a:ext cx="566616" cy="56661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44DDEA1-F25F-4A8E-8EA2-A2D4D11E0CCA}"/>
              </a:ext>
            </a:extLst>
          </p:cNvPr>
          <p:cNvCxnSpPr>
            <a:cxnSpLocks/>
          </p:cNvCxnSpPr>
          <p:nvPr/>
        </p:nvCxnSpPr>
        <p:spPr>
          <a:xfrm>
            <a:off x="4146055" y="1813512"/>
            <a:ext cx="0" cy="4483729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2B57DC-64A4-4E91-811A-D3FFD8C9E452}"/>
              </a:ext>
            </a:extLst>
          </p:cNvPr>
          <p:cNvCxnSpPr>
            <a:cxnSpLocks/>
          </p:cNvCxnSpPr>
          <p:nvPr/>
        </p:nvCxnSpPr>
        <p:spPr>
          <a:xfrm>
            <a:off x="8045947" y="1813512"/>
            <a:ext cx="0" cy="4483729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8D9D749-5310-4386-AD94-0B3BCEDEBF31}"/>
              </a:ext>
            </a:extLst>
          </p:cNvPr>
          <p:cNvGrpSpPr/>
          <p:nvPr/>
        </p:nvGrpSpPr>
        <p:grpSpPr>
          <a:xfrm>
            <a:off x="525348" y="1778919"/>
            <a:ext cx="1077105" cy="1147735"/>
            <a:chOff x="525346" y="2453692"/>
            <a:chExt cx="1077105" cy="114773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292BFF2-E9E2-42BA-97F9-B6D89012F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6959" y1="52365" x2="46959" y2="52365"/>
                          <a14:foregroundMark x1="53885" y1="30574" x2="53885" y2="30574"/>
                          <a14:foregroundMark x1="79392" y1="46622" x2="79392" y2="46622"/>
                          <a14:foregroundMark x1="17905" y1="77196" x2="17905" y2="77196"/>
                          <a14:foregroundMark x1="27365" y1="76182" x2="27365" y2="76182"/>
                          <a14:foregroundMark x1="32939" y1="73142" x2="32939" y2="73142"/>
                          <a14:foregroundMark x1="42736" y1="72297" x2="42736" y2="72297"/>
                          <a14:foregroundMark x1="45270" y1="52365" x2="45270" y2="52365"/>
                          <a14:foregroundMark x1="51858" y1="72635" x2="51858" y2="72635"/>
                          <a14:foregroundMark x1="58784" y1="73986" x2="58784" y2="73986"/>
                          <a14:foregroundMark x1="70946" y1="74831" x2="70946" y2="74831"/>
                          <a14:foregroundMark x1="80236" y1="73480" x2="80236" y2="73480"/>
                          <a14:foregroundMark x1="77196" y1="79392" x2="77196" y2="79392"/>
                          <a14:backgroundMark x1="69426" y1="76182" x2="69426" y2="76182"/>
                          <a14:backgroundMark x1="77703" y1="77027" x2="77703" y2="7702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5346" y="2453692"/>
              <a:ext cx="1077105" cy="1077105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7F5E141-C55C-4CA3-A738-AB8446887782}"/>
                </a:ext>
              </a:extLst>
            </p:cNvPr>
            <p:cNvSpPr txBox="1"/>
            <p:nvPr/>
          </p:nvSpPr>
          <p:spPr>
            <a:xfrm>
              <a:off x="567141" y="3324428"/>
              <a:ext cx="103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051" dirty="0"/>
                <a:t>(</a:t>
              </a:r>
              <a:r>
                <a:rPr lang="en-IN" sz="1051" dirty="0" err="1"/>
                <a:t>Sipeed</a:t>
              </a:r>
              <a:r>
                <a:rPr lang="en-IN" sz="1200" dirty="0"/>
                <a:t>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AC530E0-E3BF-444C-ADC3-EB55B5A32CBA}"/>
              </a:ext>
            </a:extLst>
          </p:cNvPr>
          <p:cNvGrpSpPr/>
          <p:nvPr/>
        </p:nvGrpSpPr>
        <p:grpSpPr>
          <a:xfrm>
            <a:off x="2186064" y="2170260"/>
            <a:ext cx="1506389" cy="524076"/>
            <a:chOff x="751115" y="3783220"/>
            <a:chExt cx="1506389" cy="52407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8C96427-AE2C-450D-BFCC-D9BC419FDF1A}"/>
                </a:ext>
              </a:extLst>
            </p:cNvPr>
            <p:cNvSpPr txBox="1"/>
            <p:nvPr/>
          </p:nvSpPr>
          <p:spPr>
            <a:xfrm>
              <a:off x="1223630" y="3783220"/>
              <a:ext cx="1033874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 err="1"/>
                <a:t>MiClaw</a:t>
              </a:r>
              <a:endParaRPr lang="en-IN" sz="1600" b="1" dirty="0"/>
            </a:p>
            <a:p>
              <a:pPr algn="ctr"/>
              <a:r>
                <a:rPr lang="en-IN" sz="1051" dirty="0"/>
                <a:t>(Xiaomi</a:t>
              </a:r>
              <a:r>
                <a:rPr lang="en-IN" sz="1200" dirty="0"/>
                <a:t>)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CA6662D-8471-4404-BB96-A8555859D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51115" y="3783220"/>
              <a:ext cx="524075" cy="524075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0FA7BE-3888-4334-ACCC-63DD70D7203E}"/>
              </a:ext>
            </a:extLst>
          </p:cNvPr>
          <p:cNvGrpSpPr/>
          <p:nvPr/>
        </p:nvGrpSpPr>
        <p:grpSpPr>
          <a:xfrm>
            <a:off x="4540750" y="3774838"/>
            <a:ext cx="1427231" cy="637947"/>
            <a:chOff x="4655807" y="4117263"/>
            <a:chExt cx="1427230" cy="637947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C41E6D7D-3FFC-4178-BF38-213618A2FA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35216" t="9860" r="35722" b="40504"/>
            <a:stretch/>
          </p:blipFill>
          <p:spPr>
            <a:xfrm>
              <a:off x="4655807" y="4117263"/>
              <a:ext cx="500260" cy="637947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0021310-5CD9-46C7-AA8E-527FAD57F4AC}"/>
                </a:ext>
              </a:extLst>
            </p:cNvPr>
            <p:cNvSpPr txBox="1"/>
            <p:nvPr/>
          </p:nvSpPr>
          <p:spPr>
            <a:xfrm>
              <a:off x="5049163" y="4174627"/>
              <a:ext cx="1033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 err="1"/>
                <a:t>QClaw</a:t>
              </a:r>
              <a:endParaRPr lang="en-IN" sz="1600" b="1" dirty="0"/>
            </a:p>
            <a:p>
              <a:pPr algn="ctr"/>
              <a:r>
                <a:rPr lang="en-IN" sz="1051" dirty="0"/>
                <a:t>(Tencent</a:t>
              </a:r>
              <a:r>
                <a:rPr lang="en-IN" sz="1200" dirty="0"/>
                <a:t>)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923AA68-A753-4EA0-8B44-9A24F5F7C6D8}"/>
              </a:ext>
            </a:extLst>
          </p:cNvPr>
          <p:cNvGrpSpPr/>
          <p:nvPr/>
        </p:nvGrpSpPr>
        <p:grpSpPr>
          <a:xfrm>
            <a:off x="6363274" y="3858232"/>
            <a:ext cx="1604169" cy="523220"/>
            <a:chOff x="6337931" y="4142336"/>
            <a:chExt cx="1604169" cy="52322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80E209C6-CD14-4962-BC6F-F1F372C39E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13883" t="19048" r="12615" b="24930"/>
            <a:stretch/>
          </p:blipFill>
          <p:spPr>
            <a:xfrm>
              <a:off x="6337931" y="4168389"/>
              <a:ext cx="618104" cy="471115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6A52FB-252E-43B7-B433-7E61466E7019}"/>
                </a:ext>
              </a:extLst>
            </p:cNvPr>
            <p:cNvSpPr txBox="1"/>
            <p:nvPr/>
          </p:nvSpPr>
          <p:spPr>
            <a:xfrm>
              <a:off x="6819032" y="4142336"/>
              <a:ext cx="1123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 err="1"/>
                <a:t>TuyaClaw</a:t>
              </a:r>
              <a:endParaRPr lang="en-IN" sz="1600" b="1" dirty="0"/>
            </a:p>
            <a:p>
              <a:pPr algn="ctr"/>
              <a:r>
                <a:rPr lang="en-IN" sz="1051" dirty="0"/>
                <a:t>(</a:t>
              </a:r>
              <a:r>
                <a:rPr lang="en-IN" sz="1051" dirty="0" err="1"/>
                <a:t>Tuya</a:t>
              </a:r>
              <a:r>
                <a:rPr lang="en-IN" sz="1051" dirty="0"/>
                <a:t> Smart</a:t>
              </a:r>
              <a:r>
                <a:rPr lang="en-IN" sz="1200" dirty="0"/>
                <a:t>)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C3D994-95DC-44F8-86B9-0EE19567BC44}"/>
              </a:ext>
            </a:extLst>
          </p:cNvPr>
          <p:cNvGrpSpPr/>
          <p:nvPr/>
        </p:nvGrpSpPr>
        <p:grpSpPr>
          <a:xfrm>
            <a:off x="8274975" y="3176998"/>
            <a:ext cx="1809415" cy="523220"/>
            <a:chOff x="8983784" y="3418490"/>
            <a:chExt cx="1809414" cy="52321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B17146E-B97C-4C86-9D63-F862068DD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lum bright="70000" contrast="-70000"/>
            </a:blip>
            <a:stretch>
              <a:fillRect/>
            </a:stretch>
          </p:blipFill>
          <p:spPr>
            <a:xfrm>
              <a:off x="8983784" y="3427090"/>
              <a:ext cx="506021" cy="50602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28417A-F820-46CF-90DD-B3B24E847348}"/>
                </a:ext>
              </a:extLst>
            </p:cNvPr>
            <p:cNvSpPr txBox="1"/>
            <p:nvPr/>
          </p:nvSpPr>
          <p:spPr>
            <a:xfrm>
              <a:off x="9375579" y="3418490"/>
              <a:ext cx="1417619" cy="523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 err="1"/>
                <a:t>KimiClaw</a:t>
              </a:r>
              <a:endParaRPr lang="en-IN" sz="1600" b="1" dirty="0"/>
            </a:p>
            <a:p>
              <a:pPr algn="ctr"/>
              <a:r>
                <a:rPr lang="en-IN" sz="1051" dirty="0"/>
                <a:t>(</a:t>
              </a:r>
              <a:r>
                <a:rPr lang="en-IN" sz="1051" dirty="0" err="1"/>
                <a:t>Moonshot</a:t>
              </a:r>
              <a:r>
                <a:rPr lang="en-IN" sz="1051" dirty="0"/>
                <a:t> AI</a:t>
              </a:r>
              <a:r>
                <a:rPr lang="en-IN" sz="1200" dirty="0"/>
                <a:t>)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D7D4048-7DDA-4604-AF59-A69AC4CABDE6}"/>
              </a:ext>
            </a:extLst>
          </p:cNvPr>
          <p:cNvGrpSpPr/>
          <p:nvPr/>
        </p:nvGrpSpPr>
        <p:grpSpPr>
          <a:xfrm>
            <a:off x="8730683" y="2068944"/>
            <a:ext cx="2546019" cy="783020"/>
            <a:chOff x="8730683" y="2354408"/>
            <a:chExt cx="2546018" cy="78302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20EF65A-8A94-411B-BA95-DAE384B47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730683" y="2354408"/>
              <a:ext cx="2546018" cy="506021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E0917C4-86E3-4B50-B663-6D61530CAD7A}"/>
                </a:ext>
              </a:extLst>
            </p:cNvPr>
            <p:cNvSpPr txBox="1"/>
            <p:nvPr/>
          </p:nvSpPr>
          <p:spPr>
            <a:xfrm>
              <a:off x="9486755" y="2860429"/>
              <a:ext cx="10338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051" dirty="0"/>
                <a:t>(Minimax</a:t>
              </a:r>
              <a:r>
                <a:rPr lang="en-IN" sz="1200" dirty="0"/>
                <a:t>)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B25537-8A10-4E9A-96CA-79096A652152}"/>
              </a:ext>
            </a:extLst>
          </p:cNvPr>
          <p:cNvGrpSpPr/>
          <p:nvPr/>
        </p:nvGrpSpPr>
        <p:grpSpPr>
          <a:xfrm>
            <a:off x="10315302" y="3102904"/>
            <a:ext cx="1822300" cy="604938"/>
            <a:chOff x="8998129" y="4399861"/>
            <a:chExt cx="1822300" cy="604938"/>
          </a:xfrm>
        </p:grpSpPr>
        <p:pic>
          <p:nvPicPr>
            <p:cNvPr id="24" name="Picture 2" descr="Meet ArkClaw, your first cloud-native AI agent">
              <a:extLst>
                <a:ext uri="{FF2B5EF4-FFF2-40B4-BE49-F238E27FC236}">
                  <a16:creationId xmlns:a16="http://schemas.microsoft.com/office/drawing/2014/main" id="{57F02C3A-C268-4121-8C3F-3981B8F36B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9902" b="91492" l="10000" r="90000">
                          <a14:foregroundMark x1="54531" y1="91492" x2="54531" y2="91492"/>
                          <a14:foregroundMark x1="78750" y1="32636" x2="78750" y2="32636"/>
                          <a14:foregroundMark x1="43594" y1="36262" x2="43594" y2="36262"/>
                          <a14:foregroundMark x1="42266" y1="35844" x2="42266" y2="35844"/>
                          <a14:foregroundMark x1="42578" y1="35983" x2="43672" y2="36681"/>
                          <a14:foregroundMark x1="47656" y1="30404" x2="47656" y2="30404"/>
                          <a14:foregroundMark x1="58906" y1="36820" x2="58906" y2="36820"/>
                          <a14:foregroundMark x1="57891" y1="34868" x2="59219" y2="36262"/>
                          <a14:foregroundMark x1="59531" y1="36820" x2="60781" y2="38773"/>
                          <a14:foregroundMark x1="59453" y1="36541" x2="59453" y2="36541"/>
                          <a14:foregroundMark x1="59375" y1="36541" x2="59375" y2="36541"/>
                          <a14:foregroundMark x1="70078" y1="24268" x2="70078" y2="24268"/>
                          <a14:backgroundMark x1="36719" y1="35565" x2="36719" y2="35565"/>
                          <a14:backgroundMark x1="61094" y1="30683" x2="61094" y2="30683"/>
                          <a14:backgroundMark x1="31719" y1="34589" x2="31719" y2="34589"/>
                          <a14:backgroundMark x1="46953" y1="28731" x2="46953" y2="28731"/>
                          <a14:backgroundMark x1="36406" y1="32775" x2="36406" y2="32775"/>
                          <a14:backgroundMark x1="63047" y1="45746" x2="63047" y2="45746"/>
                          <a14:backgroundMark x1="67656" y1="30544" x2="67656" y2="30544"/>
                          <a14:backgroundMark x1="33984" y1="35565" x2="33984" y2="35565"/>
                          <a14:backgroundMark x1="77656" y1="30962" x2="77656" y2="30962"/>
                          <a14:backgroundMark x1="67422" y1="32078" x2="67422" y2="32078"/>
                          <a14:backgroundMark x1="67344" y1="32357" x2="67344" y2="32357"/>
                          <a14:backgroundMark x1="66875" y1="32078" x2="66875" y2="32078"/>
                          <a14:backgroundMark x1="67109" y1="32915" x2="67109" y2="32915"/>
                          <a14:backgroundMark x1="66719" y1="33194" x2="66719" y2="33194"/>
                          <a14:backgroundMark x1="66797" y1="32775" x2="66797" y2="32775"/>
                          <a14:backgroundMark x1="66797" y1="32775" x2="67031" y2="32775"/>
                          <a14:backgroundMark x1="68203" y1="32775" x2="76797" y2="32078"/>
                          <a14:backgroundMark x1="76797" y1="32078" x2="76797" y2="32078"/>
                          <a14:backgroundMark x1="63438" y1="50767" x2="63438" y2="50767"/>
                          <a14:backgroundMark x1="59282" y1="36146" x2="59609" y2="36402"/>
                          <a14:backgroundMark x1="32422" y1="35425" x2="38281" y2="40167"/>
                          <a14:backgroundMark x1="37969" y1="31939" x2="39219" y2="42259"/>
                          <a14:backgroundMark x1="30391" y1="35146" x2="33359" y2="42399"/>
                          <a14:backgroundMark x1="33359" y1="42399" x2="36172" y2="46304"/>
                          <a14:backgroundMark x1="61922" y1="37037" x2="62422" y2="39331"/>
                          <a14:backgroundMark x1="61024" y1="32914" x2="61292" y2="34142"/>
                          <a14:backgroundMark x1="79688" y1="33752" x2="81719" y2="40586"/>
                          <a14:backgroundMark x1="81719" y1="40586" x2="85156" y2="44491"/>
                          <a14:backgroundMark x1="85156" y1="44491" x2="85625" y2="44491"/>
                          <a14:backgroundMark x1="78047" y1="38773" x2="77734" y2="47838"/>
                          <a14:backgroundMark x1="77734" y1="47838" x2="77734" y2="47838"/>
                          <a14:backgroundMark x1="76484" y1="48954" x2="74375" y2="5272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04" t="8874" r="18376" b="4919"/>
            <a:stretch/>
          </p:blipFill>
          <p:spPr bwMode="auto">
            <a:xfrm>
              <a:off x="8998129" y="4399861"/>
              <a:ext cx="755646" cy="604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444C84-2643-482C-A914-A96AF1FE2C00}"/>
                </a:ext>
              </a:extLst>
            </p:cNvPr>
            <p:cNvSpPr txBox="1"/>
            <p:nvPr/>
          </p:nvSpPr>
          <p:spPr>
            <a:xfrm>
              <a:off x="9489805" y="4440720"/>
              <a:ext cx="13306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 err="1"/>
                <a:t>ArkClaw</a:t>
              </a:r>
              <a:endParaRPr lang="en-IN" sz="1600" b="1" dirty="0"/>
            </a:p>
            <a:p>
              <a:pPr algn="ctr"/>
              <a:r>
                <a:rPr lang="en-IN" sz="1051" dirty="0"/>
                <a:t>(</a:t>
              </a:r>
              <a:r>
                <a:rPr lang="en-IN" sz="1051" dirty="0" err="1"/>
                <a:t>ByteDance</a:t>
              </a:r>
              <a:r>
                <a:rPr lang="en-IN" sz="1200" dirty="0"/>
                <a:t>)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8BC1891-272E-4533-9D40-D8B45C13716A}"/>
              </a:ext>
            </a:extLst>
          </p:cNvPr>
          <p:cNvGrpSpPr/>
          <p:nvPr/>
        </p:nvGrpSpPr>
        <p:grpSpPr>
          <a:xfrm>
            <a:off x="6378056" y="4853981"/>
            <a:ext cx="1574603" cy="663474"/>
            <a:chOff x="6323299" y="5291370"/>
            <a:chExt cx="1574602" cy="663475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F0055638-346E-4B7F-BFE2-0CCB247142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ackgroundRemoval t="7661" b="89919" l="9852" r="89655">
                          <a14:foregroundMark x1="58128" y1="7661" x2="58128" y2="7661"/>
                        </a14:backgroundRemoval>
                      </a14:imgEffect>
                    </a14:imgLayer>
                  </a14:imgProps>
                </a:ext>
              </a:extLst>
            </a:blip>
            <a:srcRect b="17227"/>
            <a:stretch/>
          </p:blipFill>
          <p:spPr>
            <a:xfrm>
              <a:off x="6323299" y="5291370"/>
              <a:ext cx="656115" cy="663475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2B2FBC8-3B02-4EB9-A2FE-02EDA4A19B09}"/>
                </a:ext>
              </a:extLst>
            </p:cNvPr>
            <p:cNvSpPr txBox="1"/>
            <p:nvPr/>
          </p:nvSpPr>
          <p:spPr>
            <a:xfrm>
              <a:off x="6732847" y="5339646"/>
              <a:ext cx="1165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 err="1"/>
                <a:t>EdgeClaw</a:t>
              </a:r>
              <a:endParaRPr lang="en-IN" sz="1600" b="1" dirty="0"/>
            </a:p>
            <a:p>
              <a:pPr algn="ctr"/>
              <a:r>
                <a:rPr lang="en-IN" sz="1051" dirty="0"/>
                <a:t>(</a:t>
              </a:r>
              <a:r>
                <a:rPr lang="en-IN" sz="1051" dirty="0" err="1"/>
                <a:t>OpenBMB</a:t>
              </a:r>
              <a:r>
                <a:rPr lang="en-IN" sz="1200" dirty="0"/>
                <a:t>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AC9A650-E1F9-4B98-9DEE-5E4926E7AF74}"/>
              </a:ext>
            </a:extLst>
          </p:cNvPr>
          <p:cNvGrpSpPr/>
          <p:nvPr/>
        </p:nvGrpSpPr>
        <p:grpSpPr>
          <a:xfrm>
            <a:off x="4492423" y="4911999"/>
            <a:ext cx="1523883" cy="588152"/>
            <a:chOff x="4529814" y="5307180"/>
            <a:chExt cx="1523882" cy="588152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2013C82-CD11-4871-8694-CE94BD876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529814" y="5307180"/>
              <a:ext cx="588152" cy="588152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6962AD8-4160-4732-940E-45D30820E6BF}"/>
                </a:ext>
              </a:extLst>
            </p:cNvPr>
            <p:cNvSpPr txBox="1"/>
            <p:nvPr/>
          </p:nvSpPr>
          <p:spPr>
            <a:xfrm>
              <a:off x="4971496" y="5339647"/>
              <a:ext cx="1082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 err="1"/>
                <a:t>AutoClaw</a:t>
              </a:r>
              <a:endParaRPr lang="en-IN" sz="1600" b="1" dirty="0"/>
            </a:p>
            <a:p>
              <a:pPr algn="ctr"/>
              <a:r>
                <a:rPr lang="en-IN" sz="1051" dirty="0"/>
                <a:t>(</a:t>
              </a:r>
              <a:r>
                <a:rPr lang="en-IN" sz="1051" dirty="0" err="1"/>
                <a:t>ZhipuAI</a:t>
              </a:r>
              <a:r>
                <a:rPr lang="en-IN" sz="1200" dirty="0"/>
                <a:t>)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2EC75F7-7796-485F-AE18-CE4EA9473BAA}"/>
              </a:ext>
            </a:extLst>
          </p:cNvPr>
          <p:cNvGrpSpPr/>
          <p:nvPr/>
        </p:nvGrpSpPr>
        <p:grpSpPr>
          <a:xfrm>
            <a:off x="4389975" y="2758691"/>
            <a:ext cx="1728779" cy="605041"/>
            <a:chOff x="4455720" y="3178179"/>
            <a:chExt cx="1728778" cy="60504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7ECBF5C-50E8-4A2F-B621-D219FFACC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backgroundRemoval t="9981" b="89827" l="8272" r="91910">
                          <a14:foregroundMark x1="22715" y1="32374" x2="22715" y2="32374"/>
                          <a14:foregroundMark x1="19835" y1="30134" x2="22395" y2="37300"/>
                          <a14:foregroundMark x1="13026" y1="32246" x2="15996" y2="38388"/>
                          <a14:foregroundMark x1="12797" y1="53551" x2="22486" y2="55854"/>
                          <a14:foregroundMark x1="22486" y1="55854" x2="16636" y2="64427"/>
                          <a14:foregroundMark x1="16636" y1="64427" x2="8684" y2="61036"/>
                          <a14:foregroundMark x1="8684" y1="61036" x2="11426" y2="52975"/>
                          <a14:foregroundMark x1="8867" y1="55662" x2="11837" y2="44786"/>
                          <a14:foregroundMark x1="11837" y1="44786" x2="21984" y2="48177"/>
                          <a14:foregroundMark x1="21984" y1="48177" x2="24634" y2="55662"/>
                          <a14:foregroundMark x1="8729" y1="45234" x2="8729" y2="45234"/>
                          <a14:foregroundMark x1="8318" y1="45234" x2="8318" y2="45234"/>
                          <a14:foregroundMark x1="28154" y1="70122" x2="32221" y2="70441"/>
                          <a14:foregroundMark x1="39854" y1="71209" x2="62751" y2="69674"/>
                          <a14:foregroundMark x1="62751" y1="69674" x2="62888" y2="69674"/>
                          <a14:foregroundMark x1="91179" y1="25848" x2="91910" y2="39411"/>
                          <a14:foregroundMark x1="42870" y1="77159" x2="51325" y2="78503"/>
                          <a14:foregroundMark x1="51325" y1="78503" x2="55667" y2="78375"/>
                          <a14:backgroundMark x1="13346" y1="71785" x2="24406" y2="72553"/>
                          <a14:backgroundMark x1="77605" y1="72361" x2="88163" y2="7300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55720" y="3178179"/>
              <a:ext cx="846980" cy="60504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89BE055-3A5D-4C78-A250-9D589F277FD6}"/>
                </a:ext>
              </a:extLst>
            </p:cNvPr>
            <p:cNvSpPr txBox="1"/>
            <p:nvPr/>
          </p:nvSpPr>
          <p:spPr>
            <a:xfrm>
              <a:off x="5150624" y="3201318"/>
              <a:ext cx="1033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 err="1"/>
                <a:t>CoPaw</a:t>
              </a:r>
              <a:endParaRPr lang="en-IN" sz="1600" b="1" dirty="0"/>
            </a:p>
            <a:p>
              <a:pPr algn="ctr"/>
              <a:r>
                <a:rPr lang="en-IN" sz="1051" dirty="0"/>
                <a:t>(Alibaba</a:t>
              </a:r>
              <a:r>
                <a:rPr lang="en-IN" sz="1200" dirty="0"/>
                <a:t>)</a:t>
              </a: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0A93A5BF-4368-49CA-B8D8-F7AE932214A1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10000" b="90000" l="10000" r="90000">
                        <a14:foregroundMark x1="25500" y1="62333" x2="25500" y2="62333"/>
                        <a14:foregroundMark x1="34583" y1="62917" x2="34583" y2="62917"/>
                        <a14:foregroundMark x1="40167" y1="62417" x2="40167" y2="62417"/>
                        <a14:foregroundMark x1="49000" y1="61500" x2="49000" y2="61500"/>
                        <a14:foregroundMark x1="56750" y1="59833" x2="56750" y2="59833"/>
                        <a14:foregroundMark x1="60833" y1="62250" x2="60833" y2="62250"/>
                        <a14:foregroundMark x1="65500" y1="63000" x2="65500" y2="63000"/>
                        <a14:foregroundMark x1="69917" y1="64750" x2="69917" y2="64750"/>
                        <a14:foregroundMark x1="50000" y1="45833" x2="50000" y2="45833"/>
                        <a14:foregroundMark x1="39500" y1="43083" x2="39500" y2="43083"/>
                        <a14:foregroundMark x1="40167" y1="37000" x2="40167" y2="37000"/>
                        <a14:backgroundMark x1="48500" y1="63833" x2="48500" y2="63833"/>
                        <a14:backgroundMark x1="64583" y1="65333" x2="64583" y2="65333"/>
                        <a14:backgroundMark x1="32250" y1="62917" x2="32250" y2="62917"/>
                      </a14:backgroundRemoval>
                    </a14:imgEffect>
                  </a14:imgLayer>
                </a14:imgProps>
              </a:ext>
            </a:extLst>
          </a:blip>
          <a:srcRect l="18645" t="29703" r="20769" b="30484"/>
          <a:stretch/>
        </p:blipFill>
        <p:spPr>
          <a:xfrm>
            <a:off x="6616871" y="1698731"/>
            <a:ext cx="948925" cy="62356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C623B392-726B-4453-8C01-BD80645C4EB5}"/>
              </a:ext>
            </a:extLst>
          </p:cNvPr>
          <p:cNvGrpSpPr/>
          <p:nvPr/>
        </p:nvGrpSpPr>
        <p:grpSpPr>
          <a:xfrm>
            <a:off x="5246326" y="5924209"/>
            <a:ext cx="1744855" cy="576296"/>
            <a:chOff x="9044379" y="5370536"/>
            <a:chExt cx="1744854" cy="576296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897FE02-C197-4FEC-98D9-E4CFED9EA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9044379" y="5371318"/>
              <a:ext cx="600536" cy="57551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DBAB610-55D6-4F3E-A57A-87117EFF9897}"/>
                </a:ext>
              </a:extLst>
            </p:cNvPr>
            <p:cNvSpPr txBox="1"/>
            <p:nvPr/>
          </p:nvSpPr>
          <p:spPr>
            <a:xfrm>
              <a:off x="9458610" y="5370536"/>
              <a:ext cx="13306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b="1" dirty="0" err="1"/>
                <a:t>IronClaw</a:t>
              </a:r>
              <a:endParaRPr lang="en-IN" sz="1600" b="1" dirty="0"/>
            </a:p>
            <a:p>
              <a:pPr algn="ctr"/>
              <a:r>
                <a:rPr lang="en-IN" sz="1051" dirty="0"/>
                <a:t>(Near AI</a:t>
              </a:r>
              <a:r>
                <a:rPr lang="en-IN" sz="1200" dirty="0"/>
                <a:t>)</a:t>
              </a:r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D56C8307-5A7B-49B4-8642-4F06F0945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328" y="1883916"/>
            <a:ext cx="1982072" cy="40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34DA8319-4D57-4A24-BEAB-EFA8D0B17E1D}"/>
              </a:ext>
            </a:extLst>
          </p:cNvPr>
          <p:cNvGrpSpPr/>
          <p:nvPr/>
        </p:nvGrpSpPr>
        <p:grpSpPr>
          <a:xfrm>
            <a:off x="6425427" y="2779123"/>
            <a:ext cx="1479860" cy="475395"/>
            <a:chOff x="6368219" y="3194803"/>
            <a:chExt cx="1479860" cy="475395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A2FA502-002C-4470-8197-57B3D23817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9">
              <a:extLst>
                <a:ext uri="{BEBA8EAE-BF5A-486C-A8C5-ECC9F3942E4B}">
                  <a14:imgProps xmlns:a14="http://schemas.microsoft.com/office/drawing/2010/main">
                    <a14:imgLayer r:embed="rId30">
                      <a14:imgEffect>
                        <a14:backgroundRemoval t="27917" b="54375" l="14219" r="84844">
                          <a14:foregroundMark x1="20000" y1="35625" x2="20000" y2="35625"/>
                          <a14:foregroundMark x1="22500" y1="37708" x2="22031" y2="47083"/>
                          <a14:foregroundMark x1="17813" y1="39167" x2="17188" y2="50625"/>
                          <a14:foregroundMark x1="17188" y1="50625" x2="17188" y2="50833"/>
                          <a14:foregroundMark x1="14219" y1="46250" x2="14375" y2="43750"/>
                          <a14:foregroundMark x1="25469" y1="53542" x2="20469" y2="54167"/>
                          <a14:foregroundMark x1="38281" y1="43542" x2="38281" y2="43542"/>
                          <a14:foregroundMark x1="39063" y1="42292" x2="41563" y2="45208"/>
                          <a14:foregroundMark x1="47344" y1="43958" x2="44531" y2="45833"/>
                          <a14:foregroundMark x1="53281" y1="43125" x2="53281" y2="43125"/>
                          <a14:foregroundMark x1="59062" y1="43542" x2="59062" y2="43542"/>
                          <a14:foregroundMark x1="71406" y1="43125" x2="71406" y2="43125"/>
                          <a14:foregroundMark x1="76563" y1="43542" x2="76563" y2="43542"/>
                          <a14:foregroundMark x1="82500" y1="44792" x2="82500" y2="44792"/>
                          <a14:foregroundMark x1="84375" y1="47292" x2="84844" y2="47083"/>
                        </a14:backgroundRemoval>
                      </a14:imgEffect>
                    </a14:imgLayer>
                  </a14:imgProps>
                </a:ext>
              </a:extLst>
            </a:blip>
            <a:srcRect l="11213" t="24762" r="10447" b="42143"/>
            <a:stretch/>
          </p:blipFill>
          <p:spPr>
            <a:xfrm>
              <a:off x="6368219" y="3201318"/>
              <a:ext cx="1479860" cy="468880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59E57D6C-9FA7-43D8-B6C0-F9266D368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575563" y="3194803"/>
              <a:ext cx="233687" cy="170124"/>
            </a:xfrm>
            <a:prstGeom prst="rect">
              <a:avLst/>
            </a:prstGeom>
          </p:spPr>
        </p:pic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586A2EAC-CC2E-4F48-B571-E497C7C27D2E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b="24365"/>
          <a:stretch/>
        </p:blipFill>
        <p:spPr>
          <a:xfrm>
            <a:off x="1435702" y="2687264"/>
            <a:ext cx="162983" cy="161795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DD029CDF-5721-4AA7-94E8-02B0FAF2717D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b="24365"/>
          <a:stretch/>
        </p:blipFill>
        <p:spPr>
          <a:xfrm>
            <a:off x="6079599" y="2320448"/>
            <a:ext cx="162983" cy="161795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D6FAE3B0-DCCE-4DCB-932F-DFEE7134B2D2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b="24365"/>
          <a:stretch/>
        </p:blipFill>
        <p:spPr>
          <a:xfrm>
            <a:off x="7514042" y="2328032"/>
            <a:ext cx="162983" cy="161795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19475CB4-0FD5-4165-BC2F-11341BEAA15F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b="24365"/>
          <a:stretch/>
        </p:blipFill>
        <p:spPr>
          <a:xfrm>
            <a:off x="7731143" y="3200265"/>
            <a:ext cx="162983" cy="161795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842C5207-3CA8-463A-BF1C-124311213F55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b="24365"/>
          <a:stretch/>
        </p:blipFill>
        <p:spPr>
          <a:xfrm>
            <a:off x="6624622" y="6365089"/>
            <a:ext cx="162983" cy="161795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BFD50D6C-0369-4291-BE7E-6EEAF1D9ACD5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b="24365"/>
          <a:stretch/>
        </p:blipFill>
        <p:spPr>
          <a:xfrm>
            <a:off x="7756661" y="5391563"/>
            <a:ext cx="162983" cy="16179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FDEC7ABE-1D56-4F87-A56B-9F4DB950CC78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b="24365"/>
          <a:stretch/>
        </p:blipFill>
        <p:spPr>
          <a:xfrm>
            <a:off x="5798183" y="3308503"/>
            <a:ext cx="162983" cy="161795"/>
          </a:xfrm>
          <a:prstGeom prst="rect">
            <a:avLst/>
          </a:prstGeom>
        </p:spPr>
      </p:pic>
      <p:sp>
        <p:nvSpPr>
          <p:cNvPr id="98" name="Shape 1">
            <a:extLst>
              <a:ext uri="{FF2B5EF4-FFF2-40B4-BE49-F238E27FC236}">
                <a16:creationId xmlns:a16="http://schemas.microsoft.com/office/drawing/2014/main" id="{FCBA4EFA-F575-49B3-9E65-116A9A41B7F1}"/>
              </a:ext>
            </a:extLst>
          </p:cNvPr>
          <p:cNvSpPr/>
          <p:nvPr/>
        </p:nvSpPr>
        <p:spPr>
          <a:xfrm>
            <a:off x="609599" y="215972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pPr algn="ctr"/>
            <a:endParaRPr lang="en-IN" sz="1000" b="1" dirty="0">
              <a:solidFill>
                <a:schemeClr val="bg1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0F86C7F-7577-4719-A33C-958CF97F2DAB}"/>
              </a:ext>
            </a:extLst>
          </p:cNvPr>
          <p:cNvSpPr txBox="1"/>
          <p:nvPr/>
        </p:nvSpPr>
        <p:spPr>
          <a:xfrm>
            <a:off x="609600" y="243031"/>
            <a:ext cx="1950721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67" b="1" dirty="0">
                <a:solidFill>
                  <a:schemeClr val="bg1"/>
                </a:solidFill>
              </a:rPr>
              <a:t>VARIANTS ECOSYSTEM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5698AE3C-BA05-4E21-81A1-4EAF2EA9B365}"/>
              </a:ext>
            </a:extLst>
          </p:cNvPr>
          <p:cNvPicPr>
            <a:picLocks noChangeAspect="1"/>
          </p:cNvPicPr>
          <p:nvPr/>
        </p:nvPicPr>
        <p:blipFill rotWithShape="1">
          <a:blip r:embed="rId32"/>
          <a:srcRect b="24365"/>
          <a:stretch/>
        </p:blipFill>
        <p:spPr>
          <a:xfrm>
            <a:off x="10867297" y="339211"/>
            <a:ext cx="162983" cy="161795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CCACA2AA-319B-4538-8072-EB4276EE3F48}"/>
              </a:ext>
            </a:extLst>
          </p:cNvPr>
          <p:cNvSpPr txBox="1"/>
          <p:nvPr/>
        </p:nvSpPr>
        <p:spPr>
          <a:xfrm>
            <a:off x="10907454" y="270089"/>
            <a:ext cx="1093633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67" dirty="0"/>
              <a:t>Open Source</a:t>
            </a:r>
          </a:p>
        </p:txBody>
      </p:sp>
    </p:spTree>
    <p:extLst>
      <p:ext uri="{BB962C8B-B14F-4D97-AF65-F5344CB8AC3E}">
        <p14:creationId xmlns:p14="http://schemas.microsoft.com/office/powerpoint/2010/main" val="1548277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14772" y="2459504"/>
            <a:ext cx="51324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Hackathon Briefing – </a:t>
            </a: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Theme, Timeline, Deliverables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D6DDE2-62A4-4F81-86FA-450EFF011919}"/>
              </a:ext>
            </a:extLst>
          </p:cNvPr>
          <p:cNvSpPr/>
          <p:nvPr/>
        </p:nvSpPr>
        <p:spPr>
          <a:xfrm>
            <a:off x="0" y="0"/>
            <a:ext cx="12192000" cy="1942068"/>
          </a:xfrm>
          <a:prstGeom prst="rect">
            <a:avLst/>
          </a:prstGeom>
          <a:noFill/>
          <a:ln w="28575">
            <a:solidFill>
              <a:srgbClr val="0094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C9D2D8C-378C-4311-B59D-9891D5378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2" y="-120118"/>
            <a:ext cx="1181239" cy="774700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A1668141-170B-4C96-BFE5-CA64C28C41A4}"/>
              </a:ext>
            </a:extLst>
          </p:cNvPr>
          <p:cNvGrpSpPr/>
          <p:nvPr/>
        </p:nvGrpSpPr>
        <p:grpSpPr>
          <a:xfrm>
            <a:off x="9392964" y="202160"/>
            <a:ext cx="2087744" cy="1529470"/>
            <a:chOff x="3327017" y="1224643"/>
            <a:chExt cx="5537967" cy="4408714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910B620-6F03-4245-951A-31D7832E7EB5}"/>
                </a:ext>
              </a:extLst>
            </p:cNvPr>
            <p:cNvSpPr/>
            <p:nvPr/>
          </p:nvSpPr>
          <p:spPr>
            <a:xfrm>
              <a:off x="3327017" y="1224643"/>
              <a:ext cx="5537967" cy="4408714"/>
            </a:xfrm>
            <a:prstGeom prst="ellipse">
              <a:avLst/>
            </a:prstGeom>
            <a:solidFill>
              <a:schemeClr val="bg2">
                <a:lumMod val="90000"/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78" name="Picture 2" descr="OpenClaw VPS Hosting (ex-Clawdbot/Moltbot) | OVHcloud India">
              <a:extLst>
                <a:ext uri="{FF2B5EF4-FFF2-40B4-BE49-F238E27FC236}">
                  <a16:creationId xmlns:a16="http://schemas.microsoft.com/office/drawing/2014/main" id="{0763E09C-2AF0-400B-BB86-5F9A3A6BEE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0273" y="2986627"/>
              <a:ext cx="4311455" cy="8847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A6EA8BD-4D84-4BA1-B4A3-78F3FE2E2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40273" y="1761661"/>
              <a:ext cx="1012372" cy="1012372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E9FE39B-696E-41D1-9BAE-FBC428981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27766" y="3989614"/>
              <a:ext cx="1064985" cy="1064985"/>
            </a:xfrm>
            <a:prstGeom prst="rect">
              <a:avLst/>
            </a:prstGeom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15DABACF-81A6-4279-9F6E-476B67D9FB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33167" y1="42500" x2="33167" y2="42500"/>
                          <a14:foregroundMark x1="39417" y1="44083" x2="39417" y2="44083"/>
                          <a14:foregroundMark x1="47583" y1="45083" x2="47583" y2="45083"/>
                          <a14:foregroundMark x1="23917" y1="61750" x2="23917" y2="61750"/>
                          <a14:foregroundMark x1="33167" y1="63833" x2="33167" y2="63833"/>
                          <a14:foregroundMark x1="39917" y1="63083" x2="39917" y2="63083"/>
                          <a14:foregroundMark x1="49167" y1="61833" x2="49167" y2="61833"/>
                          <a14:foregroundMark x1="55833" y1="59917" x2="55833" y2="59917"/>
                          <a14:foregroundMark x1="59917" y1="61583" x2="59917" y2="61583"/>
                          <a14:foregroundMark x1="64583" y1="63833" x2="64583" y2="63833"/>
                          <a14:foregroundMark x1="68750" y1="63583" x2="68750" y2="63583"/>
                          <a14:backgroundMark x1="32667" y1="63000" x2="32667" y2="63000"/>
                          <a14:backgroundMark x1="48500" y1="64000" x2="48500" y2="64000"/>
                          <a14:backgroundMark x1="64500" y1="64750" x2="64500" y2="64750"/>
                        </a14:backgroundRemoval>
                      </a14:imgEffect>
                    </a14:imgLayer>
                  </a14:imgProps>
                </a:ext>
              </a:extLst>
            </a:blip>
            <a:srcRect l="20159" t="28492" r="22222" b="31905"/>
            <a:stretch/>
          </p:blipFill>
          <p:spPr>
            <a:xfrm>
              <a:off x="5459185" y="4356629"/>
              <a:ext cx="1273629" cy="875400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7F7F5BB-D158-46A0-A7F0-2653934AE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9981" b="89827" l="8272" r="91910">
                          <a14:foregroundMark x1="22715" y1="32374" x2="22715" y2="32374"/>
                          <a14:foregroundMark x1="19835" y1="30134" x2="22395" y2="37300"/>
                          <a14:foregroundMark x1="13026" y1="32246" x2="15996" y2="38388"/>
                          <a14:foregroundMark x1="12797" y1="53551" x2="22486" y2="55854"/>
                          <a14:foregroundMark x1="22486" y1="55854" x2="16636" y2="64427"/>
                          <a14:foregroundMark x1="16636" y1="64427" x2="8684" y2="61036"/>
                          <a14:foregroundMark x1="8684" y1="61036" x2="11426" y2="52975"/>
                          <a14:foregroundMark x1="8867" y1="55662" x2="11837" y2="44786"/>
                          <a14:foregroundMark x1="11837" y1="44786" x2="21984" y2="48177"/>
                          <a14:foregroundMark x1="21984" y1="48177" x2="24634" y2="55662"/>
                          <a14:foregroundMark x1="8729" y1="45234" x2="8729" y2="45234"/>
                          <a14:foregroundMark x1="8318" y1="45234" x2="8318" y2="45234"/>
                          <a14:foregroundMark x1="28154" y1="70122" x2="32221" y2="70441"/>
                          <a14:foregroundMark x1="39854" y1="71209" x2="62751" y2="69674"/>
                          <a14:foregroundMark x1="62751" y1="69674" x2="62888" y2="69674"/>
                          <a14:foregroundMark x1="91179" y1="25848" x2="91910" y2="39411"/>
                          <a14:foregroundMark x1="42870" y1="77159" x2="51325" y2="78503"/>
                          <a14:foregroundMark x1="51325" y1="78503" x2="55667" y2="78375"/>
                          <a14:backgroundMark x1="13346" y1="71785" x2="24406" y2="72553"/>
                          <a14:backgroundMark x1="77605" y1="72361" x2="88163" y2="7300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65415" y="4129635"/>
              <a:ext cx="1098818" cy="784942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563A29B-549D-41CA-B40D-C645CBEF6B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7661" b="89919" l="9852" r="89655">
                          <a14:foregroundMark x1="58128" y1="7661" x2="58128" y2="7661"/>
                        </a14:backgroundRemoval>
                      </a14:imgEffect>
                    </a14:imgLayer>
                  </a14:imgProps>
                </a:ext>
              </a:extLst>
            </a:blip>
            <a:srcRect b="17227"/>
            <a:stretch/>
          </p:blipFill>
          <p:spPr>
            <a:xfrm>
              <a:off x="5660404" y="1827366"/>
              <a:ext cx="871189" cy="880962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41B35D82-C878-4273-8899-5DA5FB20F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9961" b="89844" l="9180" r="92643">
                          <a14:foregroundMark x1="69727" y1="51758" x2="69727" y2="51758"/>
                          <a14:foregroundMark x1="76432" y1="46973" x2="76432" y2="46973"/>
                          <a14:foregroundMark x1="82878" y1="49512" x2="82878" y2="49512"/>
                          <a14:foregroundMark x1="39844" y1="53418" x2="39844" y2="53418"/>
                          <a14:foregroundMark x1="47786" y1="49219" x2="47786" y2="49219"/>
                          <a14:foregroundMark x1="49674" y1="43359" x2="49674" y2="43359"/>
                          <a14:foregroundMark x1="58333" y1="43262" x2="58333" y2="43262"/>
                          <a14:foregroundMark x1="62174" y1="42969" x2="62174" y2="42969"/>
                          <a14:foregroundMark x1="74674" y1="43555" x2="74674" y2="43555"/>
                          <a14:foregroundMark x1="73763" y1="49902" x2="73763" y2="51855"/>
                          <a14:foregroundMark x1="67513" y1="52344" x2="67513" y2="52344"/>
                          <a14:foregroundMark x1="64714" y1="60742" x2="70247" y2="59082"/>
                          <a14:foregroundMark x1="91927" y1="44141" x2="91927" y2="44141"/>
                          <a14:foregroundMark x1="91276" y1="54785" x2="91276" y2="54785"/>
                          <a14:foregroundMark x1="91992" y1="49219" x2="91992" y2="49219"/>
                          <a14:foregroundMark x1="92708" y1="45313" x2="92708" y2="45313"/>
                          <a14:foregroundMark x1="92253" y1="47461" x2="92253" y2="47461"/>
                          <a14:foregroundMark x1="91667" y1="51172" x2="91667" y2="51172"/>
                          <a14:foregroundMark x1="9180" y1="55566" x2="9180" y2="5556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795742" y="1992744"/>
              <a:ext cx="1329031" cy="886021"/>
            </a:xfrm>
            <a:prstGeom prst="rect">
              <a:avLst/>
            </a:prstGeom>
          </p:spPr>
        </p:pic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4C29AC63-F420-4255-86D7-4703444D495A}"/>
              </a:ext>
            </a:extLst>
          </p:cNvPr>
          <p:cNvSpPr txBox="1"/>
          <p:nvPr/>
        </p:nvSpPr>
        <p:spPr>
          <a:xfrm>
            <a:off x="1309303" y="39983"/>
            <a:ext cx="4316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Problem Statement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D7807F1-3300-4A29-9A00-C66E31B26B98}"/>
              </a:ext>
            </a:extLst>
          </p:cNvPr>
          <p:cNvSpPr txBox="1"/>
          <p:nvPr/>
        </p:nvSpPr>
        <p:spPr>
          <a:xfrm>
            <a:off x="1316691" y="510409"/>
            <a:ext cx="78084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You are free to explore endless possibilities realized </a:t>
            </a:r>
            <a:r>
              <a:rPr lang="en-US" sz="1200" b="1" dirty="0">
                <a:latin typeface="SamsungOne 500" panose="020B0603030303020204" pitchFamily="34" charset="0"/>
                <a:ea typeface="SamsungOne 500" panose="020B0603030303020204" pitchFamily="34" charset="0"/>
              </a:rPr>
              <a:t>using </a:t>
            </a:r>
            <a:r>
              <a:rPr lang="en-US" sz="1200" b="1" dirty="0" err="1">
                <a:latin typeface="SamsungOne 500" panose="020B0603030303020204" pitchFamily="34" charset="0"/>
                <a:ea typeface="SamsungOne 500" panose="020B0603030303020204" pitchFamily="34" charset="0"/>
              </a:rPr>
              <a:t>Openclaw</a:t>
            </a:r>
            <a:r>
              <a:rPr lang="en-US" sz="1200" b="1" dirty="0">
                <a:latin typeface="SamsungOne 500" panose="020B0603030303020204" pitchFamily="34" charset="0"/>
                <a:ea typeface="SamsungOne 500" panose="020B0603030303020204" pitchFamily="34" charset="0"/>
              </a:rPr>
              <a:t> or any of the open-source variants of </a:t>
            </a:r>
            <a:r>
              <a:rPr lang="en-US" sz="1200" b="1" dirty="0" err="1">
                <a:latin typeface="SamsungOne 500" panose="020B0603030303020204" pitchFamily="34" charset="0"/>
                <a:ea typeface="SamsungOne 500" panose="020B0603030303020204" pitchFamily="34" charset="0"/>
              </a:rPr>
              <a:t>Openclaw</a:t>
            </a:r>
            <a:r>
              <a:rPr lang="en-US" sz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, aligning to one of the three themes below. Here are some sample </a:t>
            </a:r>
            <a:r>
              <a:rPr lang="en-US" sz="1200" b="1" dirty="0">
                <a:latin typeface="SamsungOne 500" panose="020B0603030303020204" pitchFamily="34" charset="0"/>
                <a:ea typeface="SamsungOne 500" panose="020B0603030303020204" pitchFamily="34" charset="0"/>
              </a:rPr>
              <a:t>minimum viable problem statements </a:t>
            </a:r>
            <a:r>
              <a:rPr lang="en-US" sz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to get you thinking. You can:</a:t>
            </a:r>
          </a:p>
          <a:p>
            <a:pPr marL="177800" indent="-177800">
              <a:buFont typeface="Wingdings" panose="05000000000000000000" pitchFamily="2" charset="2"/>
              <a:buChar char="Ø"/>
            </a:pPr>
            <a:endParaRPr lang="en-US" sz="120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pPr marL="177800" indent="-177800">
              <a:buFont typeface="Wingdings" panose="05000000000000000000" pitchFamily="2" charset="2"/>
              <a:buChar char="Ø"/>
            </a:pPr>
            <a:r>
              <a:rPr lang="en-US" sz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implement a solution to any relevant problem statement based on the broad themes given, or,</a:t>
            </a:r>
          </a:p>
          <a:p>
            <a:pPr marL="177800" indent="-177800">
              <a:buFont typeface="Wingdings" panose="05000000000000000000" pitchFamily="2" charset="2"/>
              <a:buChar char="Ø"/>
            </a:pPr>
            <a:r>
              <a:rPr lang="en-US" sz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combine two or more given sample (or own) problem statements under a theme into a multi-faceted solution</a:t>
            </a:r>
          </a:p>
          <a:p>
            <a:pPr marL="177800" indent="-17780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do not limit yourself to the sample problem statements</a:t>
            </a:r>
            <a:r>
              <a:rPr lang="en-US" sz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, you will be evaluated on novelty of the solution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2E76618-3F9B-414A-B8C2-FA5DD6569B1E}"/>
              </a:ext>
            </a:extLst>
          </p:cNvPr>
          <p:cNvGrpSpPr/>
          <p:nvPr/>
        </p:nvGrpSpPr>
        <p:grpSpPr>
          <a:xfrm>
            <a:off x="82031" y="4959350"/>
            <a:ext cx="3774059" cy="1858265"/>
            <a:chOff x="184373" y="4589217"/>
            <a:chExt cx="3957703" cy="2117624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21B550AA-AA0B-4432-A3D3-5F5F55EC8019}"/>
                </a:ext>
              </a:extLst>
            </p:cNvPr>
            <p:cNvSpPr/>
            <p:nvPr/>
          </p:nvSpPr>
          <p:spPr>
            <a:xfrm>
              <a:off x="191012" y="4589217"/>
              <a:ext cx="3951064" cy="1164430"/>
            </a:xfrm>
            <a:prstGeom prst="roundRect">
              <a:avLst/>
            </a:prstGeom>
            <a:solidFill>
              <a:srgbClr val="0094DA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9878EE1B-7014-4873-B69B-BD29C25894CF}"/>
                </a:ext>
              </a:extLst>
            </p:cNvPr>
            <p:cNvSpPr/>
            <p:nvPr/>
          </p:nvSpPr>
          <p:spPr>
            <a:xfrm>
              <a:off x="191012" y="5040450"/>
              <a:ext cx="3951064" cy="1666391"/>
            </a:xfrm>
            <a:prstGeom prst="roundRect">
              <a:avLst/>
            </a:prstGeom>
            <a:ln w="6350">
              <a:solidFill>
                <a:srgbClr val="0094DA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6B076DE-812E-48B2-A749-F8DA7FC18D55}"/>
                </a:ext>
              </a:extLst>
            </p:cNvPr>
            <p:cNvSpPr txBox="1"/>
            <p:nvPr/>
          </p:nvSpPr>
          <p:spPr>
            <a:xfrm>
              <a:off x="1084146" y="4654881"/>
              <a:ext cx="2870741" cy="3507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GenAI</a:t>
              </a:r>
              <a:r>
                <a:rPr lang="en-US" sz="1400" b="1" dirty="0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 Research Digest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961D6D0-FD5C-4612-A35A-F9A96ACE094D}"/>
                </a:ext>
              </a:extLst>
            </p:cNvPr>
            <p:cNvSpPr txBox="1"/>
            <p:nvPr/>
          </p:nvSpPr>
          <p:spPr>
            <a:xfrm>
              <a:off x="184373" y="5177177"/>
              <a:ext cx="3951064" cy="1394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The solution should: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query preprint servers like </a:t>
              </a:r>
              <a:r>
                <a:rPr lang="en-US" sz="1050" dirty="0" err="1">
                  <a:latin typeface="SamsungOne 500" panose="020B0603030303020204" pitchFamily="34" charset="0"/>
                  <a:ea typeface="SamsungOne 500" panose="020B0603030303020204" pitchFamily="34" charset="0"/>
                </a:rPr>
                <a:t>ArXiv</a:t>
              </a: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 &amp; </a:t>
              </a:r>
              <a:r>
                <a:rPr lang="en-US" sz="1050" dirty="0" err="1">
                  <a:latin typeface="SamsungOne 500" panose="020B0603030303020204" pitchFamily="34" charset="0"/>
                  <a:ea typeface="SamsungOne 500" panose="020B0603030303020204" pitchFamily="34" charset="0"/>
                </a:rPr>
                <a:t>Github</a:t>
              </a: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 daily for latest papers &amp; open-source repos related to </a:t>
              </a:r>
              <a:r>
                <a:rPr lang="en-US" sz="1050" dirty="0" err="1">
                  <a:latin typeface="SamsungOne 500" panose="020B0603030303020204" pitchFamily="34" charset="0"/>
                  <a:ea typeface="SamsungOne 500" panose="020B0603030303020204" pitchFamily="34" charset="0"/>
                </a:rPr>
                <a:t>GenAI</a:t>
              </a:r>
              <a:endParaRPr lang="en-US" sz="1050" dirty="0">
                <a:latin typeface="SamsungOne 500" panose="020B0603030303020204" pitchFamily="34" charset="0"/>
                <a:ea typeface="SamsungOne 500" panose="020B0603030303020204" pitchFamily="34" charset="0"/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download relevant PDFs, generate concise methodology summary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push a formatted daily digest in a docx file to a pre-defined list of mail addresses once every week</a:t>
              </a:r>
            </a:p>
          </p:txBody>
        </p:sp>
        <p:pic>
          <p:nvPicPr>
            <p:cNvPr id="92" name="Graphic 91" descr="Open book with solid fill">
              <a:extLst>
                <a:ext uri="{FF2B5EF4-FFF2-40B4-BE49-F238E27FC236}">
                  <a16:creationId xmlns:a16="http://schemas.microsoft.com/office/drawing/2014/main" id="{09968BBF-6E00-43BC-B3E4-0A418E51C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29646" y="4631187"/>
              <a:ext cx="408527" cy="408527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AEAB9AD-E239-473F-B988-BABC382BBE27}"/>
              </a:ext>
            </a:extLst>
          </p:cNvPr>
          <p:cNvGrpSpPr/>
          <p:nvPr/>
        </p:nvGrpSpPr>
        <p:grpSpPr>
          <a:xfrm>
            <a:off x="82031" y="3050371"/>
            <a:ext cx="3774059" cy="1847494"/>
            <a:chOff x="82031" y="2982765"/>
            <a:chExt cx="3774059" cy="1847494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BADB3552-0EA6-4FE5-91FE-51303EB0B437}"/>
                </a:ext>
              </a:extLst>
            </p:cNvPr>
            <p:cNvSpPr/>
            <p:nvPr/>
          </p:nvSpPr>
          <p:spPr>
            <a:xfrm>
              <a:off x="88362" y="2982765"/>
              <a:ext cx="3767728" cy="1019829"/>
            </a:xfrm>
            <a:prstGeom prst="roundRect">
              <a:avLst/>
            </a:prstGeom>
            <a:solidFill>
              <a:srgbClr val="0094DA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F739EED2-1008-4CDC-9A7D-04F86B27AB18}"/>
                </a:ext>
              </a:extLst>
            </p:cNvPr>
            <p:cNvSpPr/>
            <p:nvPr/>
          </p:nvSpPr>
          <p:spPr>
            <a:xfrm>
              <a:off x="88362" y="3370804"/>
              <a:ext cx="3767728" cy="1459455"/>
            </a:xfrm>
            <a:prstGeom prst="roundRect">
              <a:avLst/>
            </a:prstGeom>
            <a:ln w="6350">
              <a:solidFill>
                <a:srgbClr val="0094DA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FEB10ED-476A-4EA7-AF73-41B155822C30}"/>
                </a:ext>
              </a:extLst>
            </p:cNvPr>
            <p:cNvSpPr txBox="1"/>
            <p:nvPr/>
          </p:nvSpPr>
          <p:spPr>
            <a:xfrm>
              <a:off x="940053" y="3040275"/>
              <a:ext cx="27375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Tech Sensing Assistant</a:t>
              </a:r>
            </a:p>
          </p:txBody>
        </p:sp>
        <p:pic>
          <p:nvPicPr>
            <p:cNvPr id="97" name="Graphic 96" descr="Magnifying glass with solid fill">
              <a:extLst>
                <a:ext uri="{FF2B5EF4-FFF2-40B4-BE49-F238E27FC236}">
                  <a16:creationId xmlns:a16="http://schemas.microsoft.com/office/drawing/2014/main" id="{BE64759E-A04D-499B-84F6-019E7DC3F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06643" y="3040275"/>
              <a:ext cx="337567" cy="310033"/>
            </a:xfrm>
            <a:prstGeom prst="rect">
              <a:avLst/>
            </a:prstGeom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92A4CB0D-879B-4803-BC6A-E53E8921FBEB}"/>
                </a:ext>
              </a:extLst>
            </p:cNvPr>
            <p:cNvSpPr txBox="1"/>
            <p:nvPr/>
          </p:nvSpPr>
          <p:spPr>
            <a:xfrm>
              <a:off x="82031" y="3387138"/>
              <a:ext cx="37740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The solution should: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 sweep the internet on a daily basis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collect latest &amp; relevant tech news from credible sources (news pages, YT verified channels, etc.) based on the fields/topics provided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collate findings (summary for each item &amp; source link) in a structured docx report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mail it to a pre-defined list of addresses once every week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FFA40DAF-E0CF-460E-9686-12D33E389255}"/>
              </a:ext>
            </a:extLst>
          </p:cNvPr>
          <p:cNvGrpSpPr/>
          <p:nvPr/>
        </p:nvGrpSpPr>
        <p:grpSpPr>
          <a:xfrm>
            <a:off x="4174562" y="4959350"/>
            <a:ext cx="3774059" cy="1858265"/>
            <a:chOff x="184373" y="4589217"/>
            <a:chExt cx="3957703" cy="2117624"/>
          </a:xfrm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71135902-97FA-448F-9FAF-1D9C27F9D047}"/>
                </a:ext>
              </a:extLst>
            </p:cNvPr>
            <p:cNvSpPr/>
            <p:nvPr/>
          </p:nvSpPr>
          <p:spPr>
            <a:xfrm>
              <a:off x="191012" y="4589217"/>
              <a:ext cx="3951064" cy="1164430"/>
            </a:xfrm>
            <a:prstGeom prst="roundRect">
              <a:avLst/>
            </a:prstGeom>
            <a:solidFill>
              <a:srgbClr val="0094DA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7" name="Rectangle: Rounded Corners 166">
              <a:extLst>
                <a:ext uri="{FF2B5EF4-FFF2-40B4-BE49-F238E27FC236}">
                  <a16:creationId xmlns:a16="http://schemas.microsoft.com/office/drawing/2014/main" id="{DB70AB06-1EEC-4076-B22B-0A00B878948A}"/>
                </a:ext>
              </a:extLst>
            </p:cNvPr>
            <p:cNvSpPr/>
            <p:nvPr/>
          </p:nvSpPr>
          <p:spPr>
            <a:xfrm>
              <a:off x="191012" y="5040450"/>
              <a:ext cx="3951064" cy="1666391"/>
            </a:xfrm>
            <a:prstGeom prst="roundRect">
              <a:avLst/>
            </a:prstGeom>
            <a:ln w="6350">
              <a:solidFill>
                <a:srgbClr val="0094DA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12A59B3-EE7E-4851-9EC1-0AA0D7915940}"/>
                </a:ext>
              </a:extLst>
            </p:cNvPr>
            <p:cNvSpPr txBox="1"/>
            <p:nvPr/>
          </p:nvSpPr>
          <p:spPr>
            <a:xfrm>
              <a:off x="1084146" y="4654881"/>
              <a:ext cx="2870741" cy="3507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Intelligent Customizer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7086DB9F-09FD-4562-9DBB-60C72381B8E0}"/>
                </a:ext>
              </a:extLst>
            </p:cNvPr>
            <p:cNvSpPr txBox="1"/>
            <p:nvPr/>
          </p:nvSpPr>
          <p:spPr>
            <a:xfrm>
              <a:off x="184373" y="5177177"/>
              <a:ext cx="3951064" cy="1394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The solution should: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have rules for phone behavior based on user location &amp; time (e.g. minimalistic UI, silent behavior in office)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create personalized packs of wallpaper, notification settings, ringtones, volume settings etc. for each instance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sense user’s daily routine or current location &amp; time and apply the corresponding pack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A286353-ADF5-4FDE-A71D-2E0C9A2383C1}"/>
              </a:ext>
            </a:extLst>
          </p:cNvPr>
          <p:cNvGrpSpPr/>
          <p:nvPr/>
        </p:nvGrpSpPr>
        <p:grpSpPr>
          <a:xfrm>
            <a:off x="8273426" y="4904281"/>
            <a:ext cx="3864939" cy="1982168"/>
            <a:chOff x="191012" y="4526472"/>
            <a:chExt cx="4053006" cy="2258823"/>
          </a:xfrm>
        </p:grpSpPr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1AC9D03A-138F-4431-9A09-A4739B147FC8}"/>
                </a:ext>
              </a:extLst>
            </p:cNvPr>
            <p:cNvSpPr/>
            <p:nvPr/>
          </p:nvSpPr>
          <p:spPr>
            <a:xfrm>
              <a:off x="191012" y="4589217"/>
              <a:ext cx="3951064" cy="1164430"/>
            </a:xfrm>
            <a:prstGeom prst="roundRect">
              <a:avLst/>
            </a:prstGeom>
            <a:solidFill>
              <a:srgbClr val="0094DA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8" name="Rectangle: Rounded Corners 177">
              <a:extLst>
                <a:ext uri="{FF2B5EF4-FFF2-40B4-BE49-F238E27FC236}">
                  <a16:creationId xmlns:a16="http://schemas.microsoft.com/office/drawing/2014/main" id="{E75B0140-8B27-48F4-8F8B-4C1A9EEAE1B3}"/>
                </a:ext>
              </a:extLst>
            </p:cNvPr>
            <p:cNvSpPr/>
            <p:nvPr/>
          </p:nvSpPr>
          <p:spPr>
            <a:xfrm>
              <a:off x="191012" y="5040450"/>
              <a:ext cx="3951064" cy="1666391"/>
            </a:xfrm>
            <a:prstGeom prst="roundRect">
              <a:avLst/>
            </a:prstGeom>
            <a:ln w="6350">
              <a:solidFill>
                <a:srgbClr val="0094DA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CF88515-D97C-41A1-B5AC-12D70D2AEE68}"/>
                </a:ext>
              </a:extLst>
            </p:cNvPr>
            <p:cNvSpPr txBox="1"/>
            <p:nvPr/>
          </p:nvSpPr>
          <p:spPr>
            <a:xfrm>
              <a:off x="1001667" y="4526472"/>
              <a:ext cx="3034326" cy="8768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  <a:latin typeface="SamsungOne 700" panose="020B0803030303020204" pitchFamily="34" charset="0"/>
                </a:rPr>
                <a:t>Repository Analyzer &amp; Build Feasibility Engine</a:t>
              </a:r>
            </a:p>
            <a:p>
              <a:pPr algn="ctr"/>
              <a:endParaRPr lang="en-US" sz="1600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C87D8CAB-1DF6-4C9A-8C4A-FC8B802EE4BF}"/>
                </a:ext>
              </a:extLst>
            </p:cNvPr>
            <p:cNvSpPr txBox="1"/>
            <p:nvPr/>
          </p:nvSpPr>
          <p:spPr>
            <a:xfrm>
              <a:off x="220789" y="5022860"/>
              <a:ext cx="4023229" cy="17624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The solution should: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IN" sz="1050" dirty="0">
                  <a:solidFill>
                    <a:srgbClr val="1F2328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a</a:t>
              </a:r>
              <a:r>
                <a:rPr lang="en-IN" sz="1050" b="0" i="0" dirty="0">
                  <a:solidFill>
                    <a:srgbClr val="1F2328"/>
                  </a:solidFill>
                  <a:effectLst/>
                  <a:latin typeface="SamsungOne 500" panose="020B0603030303020204" pitchFamily="34" charset="0"/>
                  <a:ea typeface="SamsungOne 500" panose="020B0603030303020204" pitchFamily="34" charset="0"/>
                </a:rPr>
                <a:t>ccess GitHub repository links, parse, validate, &amp; queue repos for processing. </a:t>
              </a: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env &amp; conducting unit tests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IN" sz="1050" dirty="0">
                  <a:solidFill>
                    <a:srgbClr val="1F2328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i</a:t>
              </a:r>
              <a:r>
                <a:rPr lang="en-IN" sz="1050" b="0" i="0" dirty="0">
                  <a:solidFill>
                    <a:srgbClr val="1F2328"/>
                  </a:solidFill>
                  <a:effectLst/>
                  <a:latin typeface="SamsungOne 500" panose="020B0603030303020204" pitchFamily="34" charset="0"/>
                  <a:ea typeface="SamsungOne 500" panose="020B0603030303020204" pitchFamily="34" charset="0"/>
                </a:rPr>
                <a:t>dentify programming languages, frameworks, &amp; structure output into frontend, backend, &amp; database layers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IN" sz="1050" dirty="0">
                  <a:solidFill>
                    <a:srgbClr val="1F2328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a</a:t>
              </a:r>
              <a:r>
                <a:rPr lang="en-IN" sz="1050" b="0" i="0" dirty="0">
                  <a:solidFill>
                    <a:srgbClr val="1F2328"/>
                  </a:solidFill>
                  <a:effectLst/>
                  <a:latin typeface="SamsungOne 500" panose="020B0603030303020204" pitchFamily="34" charset="0"/>
                  <a:ea typeface="SamsungOne 500" panose="020B0603030303020204" pitchFamily="34" charset="0"/>
                </a:rPr>
                <a:t>utomate setup (install dependencies) &amp; run build commands/simulate builds, check for missing files or incomplete configurations, classify each repo as buildable, non-buildable, or buildable with fixes.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A56654F-66A7-4357-91D1-5D4D1B96AF9E}"/>
              </a:ext>
            </a:extLst>
          </p:cNvPr>
          <p:cNvGrpSpPr/>
          <p:nvPr/>
        </p:nvGrpSpPr>
        <p:grpSpPr>
          <a:xfrm>
            <a:off x="8267094" y="3050371"/>
            <a:ext cx="3836544" cy="1847494"/>
            <a:chOff x="8267094" y="2982765"/>
            <a:chExt cx="3836544" cy="1847494"/>
          </a:xfrm>
        </p:grpSpPr>
        <p:sp>
          <p:nvSpPr>
            <p:cNvPr id="182" name="Rectangle: Rounded Corners 181">
              <a:extLst>
                <a:ext uri="{FF2B5EF4-FFF2-40B4-BE49-F238E27FC236}">
                  <a16:creationId xmlns:a16="http://schemas.microsoft.com/office/drawing/2014/main" id="{EBFB8CA8-FB22-421D-AAF5-1669451D6A47}"/>
                </a:ext>
              </a:extLst>
            </p:cNvPr>
            <p:cNvSpPr/>
            <p:nvPr/>
          </p:nvSpPr>
          <p:spPr>
            <a:xfrm>
              <a:off x="8273425" y="2982765"/>
              <a:ext cx="3767728" cy="1019829"/>
            </a:xfrm>
            <a:prstGeom prst="roundRect">
              <a:avLst/>
            </a:prstGeom>
            <a:solidFill>
              <a:srgbClr val="0094DA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3" name="Rectangle: Rounded Corners 182">
              <a:extLst>
                <a:ext uri="{FF2B5EF4-FFF2-40B4-BE49-F238E27FC236}">
                  <a16:creationId xmlns:a16="http://schemas.microsoft.com/office/drawing/2014/main" id="{4A6D26FA-5CC7-41E8-9098-21F569FF83A2}"/>
                </a:ext>
              </a:extLst>
            </p:cNvPr>
            <p:cNvSpPr/>
            <p:nvPr/>
          </p:nvSpPr>
          <p:spPr>
            <a:xfrm>
              <a:off x="8273425" y="3370804"/>
              <a:ext cx="3767728" cy="1459455"/>
            </a:xfrm>
            <a:prstGeom prst="roundRect">
              <a:avLst/>
            </a:prstGeom>
            <a:ln w="6350">
              <a:solidFill>
                <a:srgbClr val="0094DA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A6470E2-4C13-4D0B-99EE-B503305F6A2E}"/>
                </a:ext>
              </a:extLst>
            </p:cNvPr>
            <p:cNvSpPr txBox="1"/>
            <p:nvPr/>
          </p:nvSpPr>
          <p:spPr>
            <a:xfrm>
              <a:off x="9125116" y="3040275"/>
              <a:ext cx="27375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Meeting Scribe &amp; Prep-coach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2342DF01-1C95-4C9C-8E84-B9B8AC302F86}"/>
                </a:ext>
              </a:extLst>
            </p:cNvPr>
            <p:cNvSpPr txBox="1"/>
            <p:nvPr/>
          </p:nvSpPr>
          <p:spPr>
            <a:xfrm>
              <a:off x="8267094" y="3431802"/>
              <a:ext cx="3836544" cy="12234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The solution should: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read the user’s calendar for online meetings scheduled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pro-actively prepare concise prep-material based on related mails, documents in its knowledge base, &amp; the web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join the meeting as a silent attendee (Teams/Google Meet/any other similar platforms)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sz="1050" dirty="0">
                  <a:latin typeface="SamsungOne 500" panose="020B0603030303020204" pitchFamily="34" charset="0"/>
                  <a:ea typeface="SamsungOne 500" panose="020B0603030303020204" pitchFamily="34" charset="0"/>
                </a:rPr>
                <a:t>transcribe the audio and prepare detailed meeting minutes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6CF2C1-61B1-47CA-9F10-1A3622C1D99E}"/>
              </a:ext>
            </a:extLst>
          </p:cNvPr>
          <p:cNvCxnSpPr>
            <a:cxnSpLocks/>
          </p:cNvCxnSpPr>
          <p:nvPr/>
        </p:nvCxnSpPr>
        <p:spPr>
          <a:xfrm>
            <a:off x="4013200" y="2286000"/>
            <a:ext cx="0" cy="451368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7E293B20-C280-4ACC-8984-AE63E638E81F}"/>
              </a:ext>
            </a:extLst>
          </p:cNvPr>
          <p:cNvCxnSpPr>
            <a:cxnSpLocks/>
          </p:cNvCxnSpPr>
          <p:nvPr/>
        </p:nvCxnSpPr>
        <p:spPr>
          <a:xfrm>
            <a:off x="8108878" y="2286000"/>
            <a:ext cx="0" cy="451368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CFD8581D-C878-41A5-8EFC-65B8DB2102DA}"/>
              </a:ext>
            </a:extLst>
          </p:cNvPr>
          <p:cNvSpPr txBox="1"/>
          <p:nvPr/>
        </p:nvSpPr>
        <p:spPr>
          <a:xfrm>
            <a:off x="82031" y="2018636"/>
            <a:ext cx="37729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094DA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Theme 1: </a:t>
            </a:r>
            <a:r>
              <a:rPr lang="en-US" sz="1600" b="1" dirty="0" err="1">
                <a:solidFill>
                  <a:srgbClr val="0094DA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GenAI</a:t>
            </a:r>
            <a:r>
              <a:rPr lang="en-US" sz="1600" b="1" dirty="0">
                <a:solidFill>
                  <a:srgbClr val="0094DA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 Research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DCBF07-0767-4318-8FA2-046B93954EC5}"/>
              </a:ext>
            </a:extLst>
          </p:cNvPr>
          <p:cNvGrpSpPr/>
          <p:nvPr/>
        </p:nvGrpSpPr>
        <p:grpSpPr>
          <a:xfrm>
            <a:off x="4174562" y="3026657"/>
            <a:ext cx="3774059" cy="1871208"/>
            <a:chOff x="4174562" y="2959051"/>
            <a:chExt cx="3774059" cy="187120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A3D8A2-1957-42F9-8D89-EEB429ABC1ED}"/>
                </a:ext>
              </a:extLst>
            </p:cNvPr>
            <p:cNvGrpSpPr/>
            <p:nvPr/>
          </p:nvGrpSpPr>
          <p:grpSpPr>
            <a:xfrm>
              <a:off x="4174562" y="2982765"/>
              <a:ext cx="3774059" cy="1847494"/>
              <a:chOff x="4205805" y="2982765"/>
              <a:chExt cx="3774059" cy="1847494"/>
            </a:xfrm>
          </p:grpSpPr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EEA72D9C-EB69-4DF5-9D34-BB1E574D530F}"/>
                  </a:ext>
                </a:extLst>
              </p:cNvPr>
              <p:cNvSpPr/>
              <p:nvPr/>
            </p:nvSpPr>
            <p:spPr>
              <a:xfrm>
                <a:off x="4212136" y="2982765"/>
                <a:ext cx="3767728" cy="1019829"/>
              </a:xfrm>
              <a:prstGeom prst="roundRect">
                <a:avLst/>
              </a:prstGeom>
              <a:solidFill>
                <a:srgbClr val="0094DA"/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2" name="Rectangle: Rounded Corners 171">
                <a:extLst>
                  <a:ext uri="{FF2B5EF4-FFF2-40B4-BE49-F238E27FC236}">
                    <a16:creationId xmlns:a16="http://schemas.microsoft.com/office/drawing/2014/main" id="{E43327FD-E48C-4E5E-876F-F4ECF3A303B2}"/>
                  </a:ext>
                </a:extLst>
              </p:cNvPr>
              <p:cNvSpPr/>
              <p:nvPr/>
            </p:nvSpPr>
            <p:spPr>
              <a:xfrm>
                <a:off x="4212136" y="3370804"/>
                <a:ext cx="3767728" cy="1459455"/>
              </a:xfrm>
              <a:prstGeom prst="roundRect">
                <a:avLst/>
              </a:prstGeom>
              <a:ln w="6350">
                <a:solidFill>
                  <a:srgbClr val="0094DA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E6CA9051-B434-4040-8633-C00264E575F6}"/>
                  </a:ext>
                </a:extLst>
              </p:cNvPr>
              <p:cNvSpPr txBox="1"/>
              <p:nvPr/>
            </p:nvSpPr>
            <p:spPr>
              <a:xfrm>
                <a:off x="5063827" y="3040275"/>
                <a:ext cx="273753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  <a:latin typeface="SamsungOne 700" panose="020B0803030303020204" pitchFamily="34" charset="0"/>
                    <a:ea typeface="SamsungOne 700" panose="020B0803030303020204" pitchFamily="34" charset="0"/>
                  </a:rPr>
                  <a:t>Daily Commute Planner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74C8A56C-5409-467B-94BE-D36D5237C4B7}"/>
                  </a:ext>
                </a:extLst>
              </p:cNvPr>
              <p:cNvSpPr txBox="1"/>
              <p:nvPr/>
            </p:nvSpPr>
            <p:spPr>
              <a:xfrm>
                <a:off x="4205805" y="3387138"/>
                <a:ext cx="3774059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50" dirty="0">
                    <a:latin typeface="SamsungOne 500" panose="020B0603030303020204" pitchFamily="34" charset="0"/>
                    <a:ea typeface="SamsungOne 500" panose="020B0603030303020204" pitchFamily="34" charset="0"/>
                  </a:rPr>
                  <a:t>The solution should: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050" dirty="0">
                    <a:latin typeface="SamsungOne 500" panose="020B0603030303020204" pitchFamily="34" charset="0"/>
                    <a:ea typeface="SamsungOne 500" panose="020B0603030303020204" pitchFamily="34" charset="0"/>
                  </a:rPr>
                  <a:t>read a user’s calendar for upcoming appointments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050" dirty="0">
                    <a:latin typeface="SamsungOne 500" panose="020B0603030303020204" pitchFamily="34" charset="0"/>
                    <a:ea typeface="SamsungOne 500" panose="020B0603030303020204" pitchFamily="34" charset="0"/>
                  </a:rPr>
                  <a:t>connect to real-time traffic &amp; transit information (e.g.: metro timings, city bus routes)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050" dirty="0">
                    <a:latin typeface="SamsungOne 500" panose="020B0603030303020204" pitchFamily="34" charset="0"/>
                    <a:ea typeface="SamsungOne 500" panose="020B0603030303020204" pitchFamily="34" charset="0"/>
                  </a:rPr>
                  <a:t>calculate optimal departure time, best route, &amp; ETA for each appointment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US" sz="1050" dirty="0">
                    <a:latin typeface="SamsungOne 500" panose="020B0603030303020204" pitchFamily="34" charset="0"/>
                    <a:ea typeface="SamsungOne 500" panose="020B0603030303020204" pitchFamily="34" charset="0"/>
                  </a:rPr>
                  <a:t>push it via Telegram/</a:t>
                </a:r>
                <a:r>
                  <a:rPr lang="en-US" sz="1050" dirty="0" err="1">
                    <a:latin typeface="SamsungOne 500" panose="020B0603030303020204" pitchFamily="34" charset="0"/>
                    <a:ea typeface="SamsungOne 500" panose="020B0603030303020204" pitchFamily="34" charset="0"/>
                  </a:rPr>
                  <a:t>Whatsapp</a:t>
                </a:r>
                <a:r>
                  <a:rPr lang="en-US" sz="1050" dirty="0">
                    <a:latin typeface="SamsungOne 500" panose="020B0603030303020204" pitchFamily="34" charset="0"/>
                    <a:ea typeface="SamsungOne 500" panose="020B0603030303020204" pitchFamily="34" charset="0"/>
                  </a:rPr>
                  <a:t> to the user 30 min before the departure time</a:t>
                </a:r>
              </a:p>
            </p:txBody>
          </p:sp>
        </p:grpSp>
        <p:pic>
          <p:nvPicPr>
            <p:cNvPr id="189" name="Graphic 188" descr="Bus with solid fill">
              <a:extLst>
                <a:ext uri="{FF2B5EF4-FFF2-40B4-BE49-F238E27FC236}">
                  <a16:creationId xmlns:a16="http://schemas.microsoft.com/office/drawing/2014/main" id="{82539775-1D70-4607-99DC-ABEE1DB77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568058" y="2959051"/>
              <a:ext cx="451802" cy="451802"/>
            </a:xfrm>
            <a:prstGeom prst="rect">
              <a:avLst/>
            </a:prstGeom>
          </p:spPr>
        </p:pic>
      </p:grpSp>
      <p:pic>
        <p:nvPicPr>
          <p:cNvPr id="190" name="Graphic 189" descr="Smart Phone with solid fill">
            <a:extLst>
              <a:ext uri="{FF2B5EF4-FFF2-40B4-BE49-F238E27FC236}">
                <a16:creationId xmlns:a16="http://schemas.microsoft.com/office/drawing/2014/main" id="{BF96F3AF-AEF5-4A28-91E9-A56355F542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20841" y="4996180"/>
            <a:ext cx="346235" cy="34623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00F2D49-2D53-422D-8F2D-8207AE3123D2}"/>
              </a:ext>
            </a:extLst>
          </p:cNvPr>
          <p:cNvGrpSpPr/>
          <p:nvPr/>
        </p:nvGrpSpPr>
        <p:grpSpPr>
          <a:xfrm>
            <a:off x="8710221" y="3080425"/>
            <a:ext cx="352540" cy="339570"/>
            <a:chOff x="8742076" y="3011749"/>
            <a:chExt cx="352540" cy="339570"/>
          </a:xfrm>
        </p:grpSpPr>
        <p:pic>
          <p:nvPicPr>
            <p:cNvPr id="191" name="Graphic 190" descr="Clipboard with solid fill">
              <a:extLst>
                <a:ext uri="{FF2B5EF4-FFF2-40B4-BE49-F238E27FC236}">
                  <a16:creationId xmlns:a16="http://schemas.microsoft.com/office/drawing/2014/main" id="{726B6DB4-53C3-4787-88AA-3F09F6924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8742076" y="3011749"/>
              <a:ext cx="339570" cy="339570"/>
            </a:xfrm>
            <a:prstGeom prst="rect">
              <a:avLst/>
            </a:prstGeom>
          </p:spPr>
        </p:pic>
        <p:pic>
          <p:nvPicPr>
            <p:cNvPr id="192" name="Graphic 191" descr="Pencil with solid fill">
              <a:extLst>
                <a:ext uri="{FF2B5EF4-FFF2-40B4-BE49-F238E27FC236}">
                  <a16:creationId xmlns:a16="http://schemas.microsoft.com/office/drawing/2014/main" id="{B9EC3A8D-BAD6-4D0D-AC51-4BFC70059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912910" y="3062953"/>
              <a:ext cx="181706" cy="181706"/>
            </a:xfrm>
            <a:prstGeom prst="rect">
              <a:avLst/>
            </a:prstGeom>
          </p:spPr>
        </p:pic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520E9AB2-7AE7-405F-9764-FCC418B93A83}"/>
              </a:ext>
            </a:extLst>
          </p:cNvPr>
          <p:cNvSpPr txBox="1"/>
          <p:nvPr/>
        </p:nvSpPr>
        <p:spPr>
          <a:xfrm>
            <a:off x="4170309" y="2018636"/>
            <a:ext cx="3780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094DA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Theme 2: Daily Utility (Smartphones)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36C5679-3043-4DE0-83D4-FCD479BB7B2E}"/>
              </a:ext>
            </a:extLst>
          </p:cNvPr>
          <p:cNvSpPr txBox="1"/>
          <p:nvPr/>
        </p:nvSpPr>
        <p:spPr>
          <a:xfrm>
            <a:off x="8269136" y="2018636"/>
            <a:ext cx="37729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0094DA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Theme 3: Productivity Platforms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7A725C6-D29D-44ED-8572-4ECDA11909D6}"/>
              </a:ext>
            </a:extLst>
          </p:cNvPr>
          <p:cNvSpPr txBox="1"/>
          <p:nvPr/>
        </p:nvSpPr>
        <p:spPr>
          <a:xfrm>
            <a:off x="82031" y="2351637"/>
            <a:ext cx="37634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What tools can you create to stay at the bleeding edge of technology and to find innovations you can adopt?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65452CD-C3CE-448F-9C44-4B379A77160C}"/>
              </a:ext>
            </a:extLst>
          </p:cNvPr>
          <p:cNvSpPr txBox="1"/>
          <p:nvPr/>
        </p:nvSpPr>
        <p:spPr>
          <a:xfrm>
            <a:off x="4186164" y="2357190"/>
            <a:ext cx="37634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What tools can you create to add value to your daily routine and to delegate your tasks to the intelligent orchestrator?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D094AC7-09B6-4450-89B0-85F98E042478}"/>
              </a:ext>
            </a:extLst>
          </p:cNvPr>
          <p:cNvSpPr txBox="1"/>
          <p:nvPr/>
        </p:nvSpPr>
        <p:spPr>
          <a:xfrm>
            <a:off x="8265990" y="2351637"/>
            <a:ext cx="3776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What tools can you create to make your life at work easier and to make AI your best colleague?</a:t>
            </a:r>
          </a:p>
        </p:txBody>
      </p:sp>
      <p:pic>
        <p:nvPicPr>
          <p:cNvPr id="20" name="Graphic 19" descr="Laptop with solid fill">
            <a:extLst>
              <a:ext uri="{FF2B5EF4-FFF2-40B4-BE49-F238E27FC236}">
                <a16:creationId xmlns:a16="http://schemas.microsoft.com/office/drawing/2014/main" id="{BB8185E6-53A5-42F3-8FFB-7D3573715E3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684276" y="4973567"/>
            <a:ext cx="391459" cy="391459"/>
          </a:xfrm>
          <a:prstGeom prst="rect">
            <a:avLst/>
          </a:prstGeom>
        </p:spPr>
      </p:pic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036687B-A19C-403D-BB9B-2194BC79C18E}"/>
              </a:ext>
            </a:extLst>
          </p:cNvPr>
          <p:cNvCxnSpPr>
            <a:cxnSpLocks/>
          </p:cNvCxnSpPr>
          <p:nvPr/>
        </p:nvCxnSpPr>
        <p:spPr>
          <a:xfrm flipH="1" flipV="1">
            <a:off x="238874" y="2876530"/>
            <a:ext cx="11714252" cy="752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0039BE74-BBDF-4548-96A3-EF103BCF7EEA}"/>
              </a:ext>
            </a:extLst>
          </p:cNvPr>
          <p:cNvSpPr txBox="1"/>
          <p:nvPr/>
        </p:nvSpPr>
        <p:spPr>
          <a:xfrm>
            <a:off x="5156859" y="2757181"/>
            <a:ext cx="18782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0094DA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Sample Problem Statements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5507A367-EACC-4B95-8E57-486A7285D447}"/>
              </a:ext>
            </a:extLst>
          </p:cNvPr>
          <p:cNvSpPr txBox="1"/>
          <p:nvPr/>
        </p:nvSpPr>
        <p:spPr>
          <a:xfrm>
            <a:off x="9273604" y="2753158"/>
            <a:ext cx="18782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0094DA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Sample Problem Statements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DB5A193-2EC1-4351-AA2C-07C40664C7A6}"/>
              </a:ext>
            </a:extLst>
          </p:cNvPr>
          <p:cNvSpPr txBox="1"/>
          <p:nvPr/>
        </p:nvSpPr>
        <p:spPr>
          <a:xfrm>
            <a:off x="1125616" y="2732784"/>
            <a:ext cx="18782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0094DA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Sample Problem Statements</a:t>
            </a:r>
          </a:p>
        </p:txBody>
      </p:sp>
    </p:spTree>
    <p:extLst>
      <p:ext uri="{BB962C8B-B14F-4D97-AF65-F5344CB8AC3E}">
        <p14:creationId xmlns:p14="http://schemas.microsoft.com/office/powerpoint/2010/main" val="16040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/>
      <p:bldP spid="194" grpId="0"/>
      <p:bldP spid="195" grpId="0"/>
      <p:bldP spid="196" grpId="0"/>
      <p:bldP spid="197" grpId="0"/>
      <p:bldP spid="198" grpId="0"/>
      <p:bldP spid="200" grpId="0" animBg="1"/>
      <p:bldP spid="201" grpId="0" animBg="1"/>
      <p:bldP spid="20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C9D2D8C-378C-4311-B59D-9891D5378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2" y="-120118"/>
            <a:ext cx="1181239" cy="77470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4C2B555-28DB-433A-B07D-6B8487871EFF}"/>
              </a:ext>
            </a:extLst>
          </p:cNvPr>
          <p:cNvSpPr txBox="1"/>
          <p:nvPr/>
        </p:nvSpPr>
        <p:spPr>
          <a:xfrm>
            <a:off x="1325957" y="58313"/>
            <a:ext cx="57660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Hackathon Timeline</a:t>
            </a:r>
          </a:p>
        </p:txBody>
      </p:sp>
      <p:sp>
        <p:nvSpPr>
          <p:cNvPr id="24" name="Arrow: Notched Right 23">
            <a:extLst>
              <a:ext uri="{FF2B5EF4-FFF2-40B4-BE49-F238E27FC236}">
                <a16:creationId xmlns:a16="http://schemas.microsoft.com/office/drawing/2014/main" id="{072A59D4-99B1-49D8-A0A1-C637C08A2840}"/>
              </a:ext>
            </a:extLst>
          </p:cNvPr>
          <p:cNvSpPr/>
          <p:nvPr/>
        </p:nvSpPr>
        <p:spPr>
          <a:xfrm>
            <a:off x="162686" y="2362698"/>
            <a:ext cx="11866028" cy="2132603"/>
          </a:xfrm>
          <a:prstGeom prst="notchedRightArrow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DED530C-0474-4EA8-9EB1-35B287C95AC8}"/>
              </a:ext>
            </a:extLst>
          </p:cNvPr>
          <p:cNvSpPr/>
          <p:nvPr/>
        </p:nvSpPr>
        <p:spPr>
          <a:xfrm>
            <a:off x="839401" y="2701552"/>
            <a:ext cx="1193102" cy="1570830"/>
          </a:xfrm>
          <a:prstGeom prst="roundRect">
            <a:avLst/>
          </a:prstGeom>
          <a:solidFill>
            <a:srgbClr val="009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24</a:t>
            </a:r>
            <a:r>
              <a:rPr lang="en-IN" sz="1600" b="1" baseline="30000" dirty="0">
                <a:solidFill>
                  <a:schemeClr val="bg1"/>
                </a:solidFill>
              </a:rPr>
              <a:t>th</a:t>
            </a:r>
            <a:r>
              <a:rPr lang="en-IN" sz="1600" b="1" dirty="0">
                <a:solidFill>
                  <a:schemeClr val="bg1"/>
                </a:solidFill>
              </a:rPr>
              <a:t> April 2026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00879A-C16D-4403-B73F-350A0B140423}"/>
              </a:ext>
            </a:extLst>
          </p:cNvPr>
          <p:cNvSpPr txBox="1"/>
          <p:nvPr/>
        </p:nvSpPr>
        <p:spPr>
          <a:xfrm>
            <a:off x="803813" y="2092066"/>
            <a:ext cx="12642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Team &amp; Ideas Registration</a:t>
            </a:r>
            <a:endParaRPr lang="en-US" sz="14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17399C-5F92-4FA8-931B-CE5F211AC94B}"/>
              </a:ext>
            </a:extLst>
          </p:cNvPr>
          <p:cNvSpPr txBox="1"/>
          <p:nvPr/>
        </p:nvSpPr>
        <p:spPr>
          <a:xfrm>
            <a:off x="689713" y="4400061"/>
            <a:ext cx="1492479" cy="52322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b" anchorCtr="1">
            <a:noAutofit/>
          </a:bodyPr>
          <a:lstStyle/>
          <a:p>
            <a:pPr marL="171450" lvl="1" indent="-17145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IN" sz="1200" kern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Finalize Theme</a:t>
            </a:r>
          </a:p>
          <a:p>
            <a:pPr marL="171450" lvl="1" indent="-17145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IN" sz="1200" kern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Idea submission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C8C49D9-E8A0-4C51-ADDD-B39B487D72F4}"/>
              </a:ext>
            </a:extLst>
          </p:cNvPr>
          <p:cNvSpPr/>
          <p:nvPr/>
        </p:nvSpPr>
        <p:spPr>
          <a:xfrm>
            <a:off x="2962147" y="2701552"/>
            <a:ext cx="1193102" cy="1570830"/>
          </a:xfrm>
          <a:prstGeom prst="roundRect">
            <a:avLst/>
          </a:prstGeom>
          <a:solidFill>
            <a:srgbClr val="009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8</a:t>
            </a:r>
            <a:r>
              <a:rPr lang="en-IN" sz="1600" b="1" baseline="30000" dirty="0">
                <a:solidFill>
                  <a:schemeClr val="bg1"/>
                </a:solidFill>
              </a:rPr>
              <a:t>th</a:t>
            </a:r>
            <a:r>
              <a:rPr lang="en-IN" sz="1600" b="1" dirty="0">
                <a:solidFill>
                  <a:schemeClr val="bg1"/>
                </a:solidFill>
              </a:rPr>
              <a:t> May 2026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61AD30-6DAE-4112-8991-D6F163EA7DCE}"/>
              </a:ext>
            </a:extLst>
          </p:cNvPr>
          <p:cNvSpPr txBox="1"/>
          <p:nvPr/>
        </p:nvSpPr>
        <p:spPr>
          <a:xfrm>
            <a:off x="2761222" y="2092066"/>
            <a:ext cx="1594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First-round Final Submission</a:t>
            </a:r>
            <a:endParaRPr lang="en-US" sz="14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455B2F8-38DF-41B0-9038-3F0B1A5DF06C}"/>
              </a:ext>
            </a:extLst>
          </p:cNvPr>
          <p:cNvSpPr/>
          <p:nvPr/>
        </p:nvSpPr>
        <p:spPr>
          <a:xfrm>
            <a:off x="5080983" y="2701552"/>
            <a:ext cx="1193102" cy="1570830"/>
          </a:xfrm>
          <a:prstGeom prst="roundRect">
            <a:avLst/>
          </a:prstGeom>
          <a:solidFill>
            <a:srgbClr val="009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15</a:t>
            </a:r>
            <a:r>
              <a:rPr lang="en-IN" sz="1600" b="1" baseline="30000" dirty="0">
                <a:solidFill>
                  <a:schemeClr val="bg1"/>
                </a:solidFill>
              </a:rPr>
              <a:t>th</a:t>
            </a:r>
            <a:r>
              <a:rPr lang="en-IN" sz="1600" b="1" dirty="0">
                <a:solidFill>
                  <a:schemeClr val="bg1"/>
                </a:solidFill>
              </a:rPr>
              <a:t> May 2026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31BF313-BCDE-4DF2-8532-7C8ECE3A5A14}"/>
              </a:ext>
            </a:extLst>
          </p:cNvPr>
          <p:cNvSpPr/>
          <p:nvPr/>
        </p:nvSpPr>
        <p:spPr>
          <a:xfrm>
            <a:off x="7228608" y="2701552"/>
            <a:ext cx="1193102" cy="1570830"/>
          </a:xfrm>
          <a:prstGeom prst="roundRect">
            <a:avLst/>
          </a:prstGeom>
          <a:solidFill>
            <a:srgbClr val="009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19</a:t>
            </a:r>
            <a:r>
              <a:rPr lang="en-IN" sz="1600" b="1" baseline="30000" dirty="0">
                <a:solidFill>
                  <a:schemeClr val="bg1"/>
                </a:solidFill>
              </a:rPr>
              <a:t>th</a:t>
            </a:r>
            <a:r>
              <a:rPr lang="en-IN" sz="1600" b="1" dirty="0">
                <a:solidFill>
                  <a:schemeClr val="bg1"/>
                </a:solidFill>
              </a:rPr>
              <a:t> May 2026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7298C92-F31C-4DAC-888C-2402D635D29B}"/>
              </a:ext>
            </a:extLst>
          </p:cNvPr>
          <p:cNvSpPr/>
          <p:nvPr/>
        </p:nvSpPr>
        <p:spPr>
          <a:xfrm>
            <a:off x="9330383" y="2701552"/>
            <a:ext cx="1193102" cy="1570830"/>
          </a:xfrm>
          <a:prstGeom prst="roundRect">
            <a:avLst/>
          </a:prstGeom>
          <a:solidFill>
            <a:srgbClr val="009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24</a:t>
            </a:r>
            <a:r>
              <a:rPr lang="en-IN" sz="1600" b="1" baseline="30000" dirty="0">
                <a:solidFill>
                  <a:schemeClr val="bg1"/>
                </a:solidFill>
              </a:rPr>
              <a:t>th</a:t>
            </a:r>
            <a:r>
              <a:rPr lang="en-IN" sz="1600" b="1" dirty="0">
                <a:solidFill>
                  <a:schemeClr val="bg1"/>
                </a:solidFill>
              </a:rPr>
              <a:t> May 2026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9D5BFB-6707-4A60-8CE6-4B8392643656}"/>
              </a:ext>
            </a:extLst>
          </p:cNvPr>
          <p:cNvSpPr txBox="1"/>
          <p:nvPr/>
        </p:nvSpPr>
        <p:spPr>
          <a:xfrm>
            <a:off x="4850322" y="2092066"/>
            <a:ext cx="16544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Second-round</a:t>
            </a:r>
          </a:p>
          <a:p>
            <a:pPr algn="ctr"/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Announcement</a:t>
            </a:r>
            <a:endParaRPr lang="en-US" sz="14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418EE5-25C1-42C5-880A-7A99F1BC18BE}"/>
              </a:ext>
            </a:extLst>
          </p:cNvPr>
          <p:cNvSpPr txBox="1"/>
          <p:nvPr/>
        </p:nvSpPr>
        <p:spPr>
          <a:xfrm>
            <a:off x="7193020" y="2092066"/>
            <a:ext cx="12642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Final</a:t>
            </a:r>
          </a:p>
          <a:p>
            <a:pPr algn="ctr"/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Demo</a:t>
            </a:r>
            <a:endParaRPr lang="en-US" sz="14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6B19DD-D940-4C51-8392-14692026C090}"/>
              </a:ext>
            </a:extLst>
          </p:cNvPr>
          <p:cNvSpPr txBox="1"/>
          <p:nvPr/>
        </p:nvSpPr>
        <p:spPr>
          <a:xfrm>
            <a:off x="9294795" y="2092066"/>
            <a:ext cx="12642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Final</a:t>
            </a:r>
          </a:p>
          <a:p>
            <a:pPr algn="ctr"/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Result</a:t>
            </a:r>
            <a:endParaRPr lang="en-US" sz="14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52FB9F-A065-4383-B7FF-A66D84842EF7}"/>
              </a:ext>
            </a:extLst>
          </p:cNvPr>
          <p:cNvSpPr txBox="1"/>
          <p:nvPr/>
        </p:nvSpPr>
        <p:spPr>
          <a:xfrm>
            <a:off x="2638258" y="4400061"/>
            <a:ext cx="2202254" cy="52322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b" anchorCtr="1">
            <a:noAutofit/>
          </a:bodyPr>
          <a:lstStyle/>
          <a:p>
            <a:pPr marL="171450" lvl="1" indent="-17145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IN" sz="1200" kern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First-round Demo</a:t>
            </a:r>
          </a:p>
          <a:p>
            <a:pPr marL="171450" lvl="1" indent="-17145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IN" sz="1200" kern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Complete Implementation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13867F-911F-4732-8AFA-EEF021BC2B23}"/>
              </a:ext>
            </a:extLst>
          </p:cNvPr>
          <p:cNvSpPr txBox="1"/>
          <p:nvPr/>
        </p:nvSpPr>
        <p:spPr>
          <a:xfrm>
            <a:off x="4612252" y="4304337"/>
            <a:ext cx="2130565" cy="71466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b" anchorCtr="1">
            <a:noAutofit/>
          </a:bodyPr>
          <a:lstStyle/>
          <a:p>
            <a:pPr marL="171450" lvl="1" indent="-17145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IN" sz="1200" kern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1-week Evaluation</a:t>
            </a:r>
          </a:p>
          <a:p>
            <a:pPr marL="171450" lvl="1" indent="-17145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IN" sz="1200" kern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First-round Results Announcement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FEFA7D-31F9-412E-BDAC-AB902EDB6498}"/>
              </a:ext>
            </a:extLst>
          </p:cNvPr>
          <p:cNvSpPr txBox="1"/>
          <p:nvPr/>
        </p:nvSpPr>
        <p:spPr>
          <a:xfrm>
            <a:off x="6896199" y="4400061"/>
            <a:ext cx="2018128" cy="52322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b" anchorCtr="1">
            <a:noAutofit/>
          </a:bodyPr>
          <a:lstStyle/>
          <a:p>
            <a:pPr marL="171450" lvl="1" indent="-17145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IN" sz="1200" kern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Hands-on Demo Video</a:t>
            </a:r>
          </a:p>
          <a:p>
            <a:pPr marL="171450" lvl="1" indent="-17145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IN" sz="1200" kern="1200" dirty="0">
                <a:latin typeface="SamsungOne 500" panose="020B0603030303020204" pitchFamily="34" charset="0"/>
                <a:ea typeface="SamsungOne 500" panose="020B0603030303020204" pitchFamily="34" charset="0"/>
              </a:rPr>
              <a:t>Use Case Explanation</a:t>
            </a:r>
          </a:p>
        </p:txBody>
      </p:sp>
    </p:spTree>
    <p:extLst>
      <p:ext uri="{BB962C8B-B14F-4D97-AF65-F5344CB8AC3E}">
        <p14:creationId xmlns:p14="http://schemas.microsoft.com/office/powerpoint/2010/main" val="2194921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C9D2D8C-378C-4311-B59D-9891D5378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2" y="-120118"/>
            <a:ext cx="1181239" cy="774700"/>
          </a:xfrm>
          <a:prstGeom prst="rect">
            <a:avLst/>
          </a:prstGeom>
        </p:spPr>
      </p:pic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8473AF5-AA36-4596-9EAC-0AC67F93DAA1}"/>
              </a:ext>
            </a:extLst>
          </p:cNvPr>
          <p:cNvSpPr/>
          <p:nvPr/>
        </p:nvSpPr>
        <p:spPr>
          <a:xfrm>
            <a:off x="187326" y="629264"/>
            <a:ext cx="3711574" cy="1570830"/>
          </a:xfrm>
          <a:prstGeom prst="roundRect">
            <a:avLst/>
          </a:prstGeom>
          <a:solidFill>
            <a:srgbClr val="0094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5BCDE74-94FD-4D7B-8FFD-B27C71578423}"/>
              </a:ext>
            </a:extLst>
          </p:cNvPr>
          <p:cNvSpPr/>
          <p:nvPr/>
        </p:nvSpPr>
        <p:spPr>
          <a:xfrm>
            <a:off x="4205289" y="629264"/>
            <a:ext cx="3711574" cy="1570830"/>
          </a:xfrm>
          <a:prstGeom prst="roundRect">
            <a:avLst/>
          </a:prstGeom>
          <a:solidFill>
            <a:srgbClr val="248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780B355-BDCE-4DC7-B0A9-C5EA5280BA03}"/>
              </a:ext>
            </a:extLst>
          </p:cNvPr>
          <p:cNvSpPr/>
          <p:nvPr/>
        </p:nvSpPr>
        <p:spPr>
          <a:xfrm>
            <a:off x="8223252" y="629264"/>
            <a:ext cx="3711574" cy="1570830"/>
          </a:xfrm>
          <a:prstGeom prst="roundRect">
            <a:avLst/>
          </a:prstGeom>
          <a:solidFill>
            <a:srgbClr val="1E6A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C2B555-28DB-433A-B07D-6B8487871EFF}"/>
              </a:ext>
            </a:extLst>
          </p:cNvPr>
          <p:cNvSpPr txBox="1"/>
          <p:nvPr/>
        </p:nvSpPr>
        <p:spPr>
          <a:xfrm>
            <a:off x="1325957" y="58313"/>
            <a:ext cx="57660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Hackathon Requirement &amp; Submission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F97707-4374-4563-B453-3652585C9F81}"/>
              </a:ext>
            </a:extLst>
          </p:cNvPr>
          <p:cNvSpPr txBox="1"/>
          <p:nvPr/>
        </p:nvSpPr>
        <p:spPr>
          <a:xfrm>
            <a:off x="187326" y="785782"/>
            <a:ext cx="37115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Phase 1: Registration Round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Week 1 (Deadline: 24th April EOD)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9FD4FE-372E-4465-B024-B2FB1C77B14D}"/>
              </a:ext>
            </a:extLst>
          </p:cNvPr>
          <p:cNvSpPr txBox="1"/>
          <p:nvPr/>
        </p:nvSpPr>
        <p:spPr>
          <a:xfrm>
            <a:off x="4205289" y="785782"/>
            <a:ext cx="37115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Phase 2: Implementation Round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Week 3 (Last date 8</a:t>
            </a:r>
            <a:r>
              <a:rPr lang="en-US" sz="1400" b="1" baseline="30000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th</a:t>
            </a:r>
            <a:r>
              <a:rPr lang="en-US" sz="1400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 May EOD)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862E88-F937-411A-9F5B-3BED7F82EC4B}"/>
              </a:ext>
            </a:extLst>
          </p:cNvPr>
          <p:cNvSpPr txBox="1"/>
          <p:nvPr/>
        </p:nvSpPr>
        <p:spPr>
          <a:xfrm>
            <a:off x="8223252" y="785782"/>
            <a:ext cx="37115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Phase 3: Demo Submission</a:t>
            </a:r>
          </a:p>
          <a:p>
            <a:pPr algn="ctr"/>
            <a:r>
              <a:rPr lang="en-US" sz="1400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(19</a:t>
            </a:r>
            <a:r>
              <a:rPr lang="en-US" sz="1400" b="1" baseline="30000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th</a:t>
            </a:r>
            <a:r>
              <a:rPr lang="en-US" sz="1400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rPr>
              <a:t> May EOD)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1482515-BFC0-4600-9067-D7F6F9DAA784}"/>
              </a:ext>
            </a:extLst>
          </p:cNvPr>
          <p:cNvSpPr txBox="1"/>
          <p:nvPr/>
        </p:nvSpPr>
        <p:spPr>
          <a:xfrm>
            <a:off x="187326" y="1520732"/>
            <a:ext cx="3711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How well can you devise a conceptual solution &amp; specify its features, benefits, feasibility?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E67665-D457-4B61-BB62-465D7C77FADD}"/>
              </a:ext>
            </a:extLst>
          </p:cNvPr>
          <p:cNvSpPr txBox="1"/>
          <p:nvPr/>
        </p:nvSpPr>
        <p:spPr>
          <a:xfrm>
            <a:off x="4240213" y="1520732"/>
            <a:ext cx="3711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How well can you put your concept into code, and get it running without flaw?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89B70B7-0A94-4666-BBDE-0F965F05016F}"/>
              </a:ext>
            </a:extLst>
          </p:cNvPr>
          <p:cNvSpPr txBox="1"/>
          <p:nvPr/>
        </p:nvSpPr>
        <p:spPr>
          <a:xfrm>
            <a:off x="8223252" y="1520732"/>
            <a:ext cx="3711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How well can you unify your concept and implementation, present it, and get stakeholder buy-in?</a:t>
            </a:r>
          </a:p>
        </p:txBody>
      </p:sp>
      <p:pic>
        <p:nvPicPr>
          <p:cNvPr id="7" name="Graphic 6" descr="Arrow: Straight with solid fill">
            <a:extLst>
              <a:ext uri="{FF2B5EF4-FFF2-40B4-BE49-F238E27FC236}">
                <a16:creationId xmlns:a16="http://schemas.microsoft.com/office/drawing/2014/main" id="{449464F6-AE9B-46A9-B84E-E1347367A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707045" y="1019907"/>
            <a:ext cx="794872" cy="576729"/>
          </a:xfrm>
          <a:prstGeom prst="rect">
            <a:avLst/>
          </a:prstGeom>
        </p:spPr>
      </p:pic>
      <p:pic>
        <p:nvPicPr>
          <p:cNvPr id="74" name="Graphic 73" descr="Arrow: Straight with solid fill">
            <a:extLst>
              <a:ext uri="{FF2B5EF4-FFF2-40B4-BE49-F238E27FC236}">
                <a16:creationId xmlns:a16="http://schemas.microsoft.com/office/drawing/2014/main" id="{25BCE505-2097-461A-A02D-EC3223BFE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719964" y="1028443"/>
            <a:ext cx="794872" cy="576729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5B7432A-99CB-47CD-82CD-E8E04042D204}"/>
              </a:ext>
            </a:extLst>
          </p:cNvPr>
          <p:cNvCxnSpPr>
            <a:cxnSpLocks/>
          </p:cNvCxnSpPr>
          <p:nvPr/>
        </p:nvCxnSpPr>
        <p:spPr>
          <a:xfrm>
            <a:off x="4013200" y="2339784"/>
            <a:ext cx="0" cy="451368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7CB8EE7-97DC-4DA6-9339-B2C6F581AF79}"/>
              </a:ext>
            </a:extLst>
          </p:cNvPr>
          <p:cNvCxnSpPr>
            <a:cxnSpLocks/>
          </p:cNvCxnSpPr>
          <p:nvPr/>
        </p:nvCxnSpPr>
        <p:spPr>
          <a:xfrm>
            <a:off x="8108878" y="2339784"/>
            <a:ext cx="0" cy="451368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CD926CF0-3BBF-42B2-B4E2-BB85E8C700B5}"/>
              </a:ext>
            </a:extLst>
          </p:cNvPr>
          <p:cNvSpPr txBox="1"/>
          <p:nvPr/>
        </p:nvSpPr>
        <p:spPr>
          <a:xfrm>
            <a:off x="187327" y="2325837"/>
            <a:ext cx="3711500" cy="410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Teams </a:t>
            </a:r>
            <a:r>
              <a:rPr lang="en-US" sz="1100" b="1" dirty="0">
                <a:latin typeface="SamsungOne 500" panose="020B0603030303020204" pitchFamily="34" charset="0"/>
                <a:ea typeface="SamsungOne 500" panose="020B0603030303020204" pitchFamily="34" charset="0"/>
              </a:rPr>
              <a:t>(Max 4/team): </a:t>
            </a:r>
            <a:r>
              <a:rPr lang="en-US" sz="140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./</a:t>
            </a:r>
          </a:p>
          <a:p>
            <a:endParaRPr lang="en-US" sz="14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endParaRPr lang="en-US" sz="14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Deliverables:</a:t>
            </a:r>
          </a:p>
          <a:p>
            <a:endParaRPr lang="en-US" sz="1400" b="1" dirty="0">
              <a:latin typeface="SamsungOne 700" panose="020B0803030303020204" pitchFamily="34" charset="0"/>
              <a:ea typeface="SamsungOne 700" panose="020B0803030303020204" pitchFamily="34" charset="0"/>
            </a:endParaRPr>
          </a:p>
          <a:p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Detailed proposal about your solution including:</a:t>
            </a:r>
          </a:p>
          <a:p>
            <a:endParaRPr lang="en-US" sz="105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theme selected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problem statement(s) approached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detailed architecture of the designed solution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user stories &amp; user journeys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planned development timeline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components used – platforms, libraries, variant of </a:t>
            </a:r>
            <a:r>
              <a:rPr lang="en-US" sz="1050" dirty="0" err="1">
                <a:latin typeface="SamsungOne 500" panose="020B0603030303020204" pitchFamily="34" charset="0"/>
                <a:ea typeface="SamsungOne 500" panose="020B0603030303020204" pitchFamily="34" charset="0"/>
              </a:rPr>
              <a:t>OpenClaw</a:t>
            </a: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 utilized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dependencies – API requirements, estimated compute, etc.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5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5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r>
              <a:rPr lang="en-US" sz="1400" dirty="0">
                <a:latin typeface="SamsungOne 700" panose="020B0803030303020204" pitchFamily="34" charset="0"/>
                <a:ea typeface="SamsungOne 700" panose="020B0803030303020204" pitchFamily="34" charset="0"/>
              </a:rPr>
              <a:t>Evaluation Criteria</a:t>
            </a:r>
          </a:p>
          <a:p>
            <a:endParaRPr lang="en-US" sz="105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Relevance to theme &amp; biz importance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Presentation &amp; documentation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EFE1D71-F59F-4DF5-AD45-D15A2DA69237}"/>
              </a:ext>
            </a:extLst>
          </p:cNvPr>
          <p:cNvSpPr txBox="1"/>
          <p:nvPr/>
        </p:nvSpPr>
        <p:spPr>
          <a:xfrm>
            <a:off x="4240287" y="2325837"/>
            <a:ext cx="3711500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Deliverables:</a:t>
            </a:r>
          </a:p>
          <a:p>
            <a:endParaRPr lang="en-US" sz="1400" b="1" dirty="0">
              <a:latin typeface="SamsungOne 700" panose="020B0803030303020204" pitchFamily="34" charset="0"/>
              <a:ea typeface="SamsungOne 700" panose="020B0803030303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Video Demo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Documentation – PPT ( format will be provided)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Public GitHub repo – </a:t>
            </a:r>
            <a:r>
              <a:rPr lang="en-IN" sz="105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working, buildable &amp; runnable code with readme in Windows or Android</a:t>
            </a: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 (include setup, build and run instructions)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.</a:t>
            </a:r>
            <a:r>
              <a:rPr lang="en-US" sz="1050" b="1" dirty="0" err="1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apk</a:t>
            </a:r>
            <a:r>
              <a:rPr lang="en-US" sz="105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 file </a:t>
            </a: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(in case of a smartphone-focused implementation)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Skill.md files </a:t>
            </a: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(if any were written by the team during implementation)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Memory implementation </a:t>
            </a: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to the </a:t>
            </a:r>
            <a:r>
              <a:rPr lang="en-US" sz="1050" dirty="0" err="1">
                <a:latin typeface="SamsungOne 500" panose="020B0603030303020204" pitchFamily="34" charset="0"/>
                <a:ea typeface="SamsungOne 500" panose="020B0603030303020204" pitchFamily="34" charset="0"/>
              </a:rPr>
              <a:t>OpenClaw</a:t>
            </a: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 setup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05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r>
              <a:rPr lang="en-US" sz="1400" dirty="0">
                <a:latin typeface="SamsungOne 700" panose="020B0803030303020204" pitchFamily="34" charset="0"/>
                <a:ea typeface="SamsungOne 700" panose="020B0803030303020204" pitchFamily="34" charset="0"/>
              </a:rPr>
              <a:t>Evaluation Criteria</a:t>
            </a:r>
          </a:p>
          <a:p>
            <a:endParaRPr lang="en-US" sz="105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Working Prototype / Functionality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User Experience (UI/UX, usability, novelty)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E3EC7E7-E31D-4427-B08C-6995323C562C}"/>
              </a:ext>
            </a:extLst>
          </p:cNvPr>
          <p:cNvSpPr txBox="1"/>
          <p:nvPr/>
        </p:nvSpPr>
        <p:spPr>
          <a:xfrm>
            <a:off x="8166849" y="2339784"/>
            <a:ext cx="403501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Teams: </a:t>
            </a:r>
            <a:r>
              <a:rPr lang="en-US" sz="140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Top Teams </a:t>
            </a:r>
            <a:r>
              <a:rPr lang="en-US" sz="1400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from Phase 2</a:t>
            </a:r>
          </a:p>
          <a:p>
            <a:endParaRPr lang="en-US" sz="14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r>
              <a:rPr lang="en-US" sz="1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Deliverables:</a:t>
            </a:r>
          </a:p>
          <a:p>
            <a:endParaRPr lang="en-US" sz="1400" b="1" dirty="0">
              <a:latin typeface="SamsungOne 700" panose="020B0803030303020204" pitchFamily="34" charset="0"/>
              <a:ea typeface="SamsungOne 700" panose="020B0803030303020204" pitchFamily="34" charset="0"/>
            </a:endParaRPr>
          </a:p>
          <a:p>
            <a:r>
              <a:rPr lang="en-US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Hands-on demo video (10 mins, 1 – 3 usage scenarios) and detailed implementation report including: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IN" sz="105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final architecture &amp; system design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dependencies – APIs, tools, skill files (existing/newly written)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evaluation dataset &amp; performance benchmarking results - define &amp; demonstrate KPIs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impact of solution &amp; future scope (expanded user journey with additional features &amp; development plan)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detailed AI usage report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AI models/APIs used within the solution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IN" sz="1050" dirty="0">
                <a:latin typeface="SamsungOne 500" panose="020B0603030303020204" pitchFamily="34" charset="0"/>
                <a:ea typeface="SamsungOne 500" panose="020B0603030303020204" pitchFamily="34" charset="0"/>
              </a:rPr>
              <a:t>AI service usage for preparing project artifacts as specified in AI Disclosure (E.g. AI model or API, Prompt, Input, Output etc.)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90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B4DF99-5799-4BE0-A33E-9F7874A36FB9}"/>
              </a:ext>
            </a:extLst>
          </p:cNvPr>
          <p:cNvSpPr/>
          <p:nvPr/>
        </p:nvSpPr>
        <p:spPr>
          <a:xfrm>
            <a:off x="4128995" y="5597676"/>
            <a:ext cx="3868663" cy="1231153"/>
          </a:xfrm>
          <a:prstGeom prst="roundRect">
            <a:avLst>
              <a:gd name="adj" fmla="val 8760"/>
            </a:avLst>
          </a:prstGeom>
          <a:noFill/>
          <a:ln>
            <a:solidFill>
              <a:srgbClr val="0094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B0F78C3-BA67-4133-B617-A1ADC55B9F7D}"/>
              </a:ext>
            </a:extLst>
          </p:cNvPr>
          <p:cNvSpPr txBox="1"/>
          <p:nvPr/>
        </p:nvSpPr>
        <p:spPr>
          <a:xfrm>
            <a:off x="5469566" y="2201658"/>
            <a:ext cx="24665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* Students must provide their official college e-mail id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F83DEE-DEA1-4CFD-B4F0-66524CF621D1}"/>
              </a:ext>
            </a:extLst>
          </p:cNvPr>
          <p:cNvSpPr txBox="1"/>
          <p:nvPr/>
        </p:nvSpPr>
        <p:spPr>
          <a:xfrm>
            <a:off x="8468254" y="5834496"/>
            <a:ext cx="3432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SamsungOne 500" panose="020B0603030303020204" pitchFamily="34" charset="0"/>
                <a:ea typeface="SamsungOne 500" panose="020B0603030303020204" pitchFamily="34" charset="0"/>
              </a:rPr>
              <a:t>Winners: </a:t>
            </a:r>
            <a:r>
              <a:rPr lang="en-US" sz="1800" b="0" dirty="0">
                <a:latin typeface="SamsungOne 500" panose="020B0603030303020204" pitchFamily="34" charset="0"/>
                <a:ea typeface="SamsungOne 500" panose="020B0603030303020204" pitchFamily="34" charset="0"/>
              </a:rPr>
              <a:t>Top Submissions Per Theme Based On Total Score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E746EF-C5CD-4752-BEAD-9EE24A080268}"/>
              </a:ext>
            </a:extLst>
          </p:cNvPr>
          <p:cNvSpPr txBox="1"/>
          <p:nvPr/>
        </p:nvSpPr>
        <p:spPr>
          <a:xfrm>
            <a:off x="4128995" y="5597676"/>
            <a:ext cx="386866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SamsungOne 500" panose="020B0603030303020204" pitchFamily="34" charset="0"/>
                <a:ea typeface="SamsungOne 500" panose="020B0603030303020204" pitchFamily="34" charset="0"/>
              </a:rPr>
              <a:t>Final Evaluation Criteria</a:t>
            </a:r>
          </a:p>
          <a:p>
            <a:endParaRPr lang="en-US" sz="1000" dirty="0">
              <a:latin typeface="SamsungOne 500" panose="020B0603030303020204" pitchFamily="34" charset="0"/>
              <a:ea typeface="SamsungOne 500" panose="020B0603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msungOne 500" panose="020B0603030303020204" pitchFamily="34" charset="0"/>
                <a:ea typeface="SamsungOne 500" panose="020B0603030303020204" pitchFamily="34" charset="0"/>
              </a:rPr>
              <a:t>Working Prototype / Functionality – </a:t>
            </a:r>
            <a:r>
              <a:rPr lang="en-IN" sz="100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35%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msungOne 500" panose="020B0603030303020204" pitchFamily="34" charset="0"/>
                <a:ea typeface="SamsungOne 500" panose="020B0603030303020204" pitchFamily="34" charset="0"/>
              </a:rPr>
              <a:t>Technical Depth of Contribution – </a:t>
            </a:r>
            <a:r>
              <a:rPr lang="en-IN" sz="100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25%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msungOne 500" panose="020B0603030303020204" pitchFamily="34" charset="0"/>
                <a:ea typeface="SamsungOne 500" panose="020B0603030303020204" pitchFamily="34" charset="0"/>
              </a:rPr>
              <a:t>User Experience (UI/UX, usability, novelty) – </a:t>
            </a:r>
            <a:r>
              <a:rPr lang="en-IN" sz="100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15%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msungOne 500" panose="020B0603030303020204" pitchFamily="34" charset="0"/>
                <a:ea typeface="SamsungOne 500" panose="020B0603030303020204" pitchFamily="34" charset="0"/>
              </a:rPr>
              <a:t>Relevance to Theme &amp; Biz Importance – </a:t>
            </a:r>
            <a:r>
              <a:rPr lang="en-IN" sz="100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15%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msungOne 500" panose="020B0603030303020204" pitchFamily="34" charset="0"/>
                <a:ea typeface="SamsungOne 500" panose="020B0603030303020204" pitchFamily="34" charset="0"/>
              </a:rPr>
              <a:t>Presentation &amp; Documentation – </a:t>
            </a:r>
            <a:r>
              <a:rPr lang="en-IN" sz="1000" b="1" dirty="0">
                <a:solidFill>
                  <a:srgbClr val="0094DA"/>
                </a:solidFill>
                <a:latin typeface="SamsungOne 500" panose="020B0603030303020204" pitchFamily="34" charset="0"/>
                <a:ea typeface="SamsungOne 500" panose="020B0603030303020204" pitchFamily="34" charset="0"/>
              </a:rPr>
              <a:t>10%</a:t>
            </a:r>
            <a:endParaRPr lang="en-US" sz="1000" b="1" dirty="0">
              <a:solidFill>
                <a:srgbClr val="0094DA"/>
              </a:solidFill>
              <a:latin typeface="SamsungOne 500" panose="020B0603030303020204" pitchFamily="34" charset="0"/>
              <a:ea typeface="SamsungOne 500" panose="020B0603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287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268D92-B95F-429E-AA07-DEC0FD318EF9}"/>
              </a:ext>
            </a:extLst>
          </p:cNvPr>
          <p:cNvSpPr txBox="1"/>
          <p:nvPr/>
        </p:nvSpPr>
        <p:spPr>
          <a:xfrm>
            <a:off x="1511014" y="161489"/>
            <a:ext cx="57660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amsungOne 700" panose="020B0803030303020204" pitchFamily="34" charset="0"/>
                <a:ea typeface="SamsungOne 700" panose="020B0803030303020204" pitchFamily="34" charset="0"/>
              </a:rPr>
              <a:t>What’s in it for you?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B3FE5C-3582-4F63-B79E-1D85DACFB4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10" y="4971"/>
            <a:ext cx="1181239" cy="7747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8BD139D-9BDD-4B09-9B8F-DC63012655C4}"/>
              </a:ext>
            </a:extLst>
          </p:cNvPr>
          <p:cNvGrpSpPr/>
          <p:nvPr/>
        </p:nvGrpSpPr>
        <p:grpSpPr>
          <a:xfrm>
            <a:off x="1269757" y="993662"/>
            <a:ext cx="3711574" cy="1570830"/>
            <a:chOff x="834329" y="1155244"/>
            <a:chExt cx="3711574" cy="157083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A5C8756-2C07-4297-87A1-23CE75F65EB9}"/>
                </a:ext>
              </a:extLst>
            </p:cNvPr>
            <p:cNvSpPr/>
            <p:nvPr/>
          </p:nvSpPr>
          <p:spPr>
            <a:xfrm>
              <a:off x="834329" y="1155244"/>
              <a:ext cx="3711574" cy="1570830"/>
            </a:xfrm>
            <a:prstGeom prst="roundRect">
              <a:avLst/>
            </a:prstGeom>
            <a:solidFill>
              <a:srgbClr val="0094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5A86872-D644-4605-9F69-2D0966202CBE}"/>
                </a:ext>
              </a:extLst>
            </p:cNvPr>
            <p:cNvSpPr txBox="1"/>
            <p:nvPr/>
          </p:nvSpPr>
          <p:spPr>
            <a:xfrm>
              <a:off x="1882078" y="1297090"/>
              <a:ext cx="25842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Build Real AI Products</a:t>
              </a:r>
              <a:endParaRPr lang="en-US" sz="1400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861B3E3-1078-4FDD-A314-D5673AF84B56}"/>
                </a:ext>
              </a:extLst>
            </p:cNvPr>
            <p:cNvSpPr txBox="1"/>
            <p:nvPr/>
          </p:nvSpPr>
          <p:spPr>
            <a:xfrm>
              <a:off x="1865086" y="1719188"/>
              <a:ext cx="243407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solidFill>
                    <a:schemeClr val="bg1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Work on on-device AI, platforms &amp; next-gen mobile experiences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E144E7A-E30E-423E-A8BB-99C180081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25000"/>
            </a:blip>
            <a:stretch>
              <a:fillRect/>
            </a:stretch>
          </p:blipFill>
          <p:spPr>
            <a:xfrm>
              <a:off x="915561" y="1311761"/>
              <a:ext cx="1190906" cy="1190906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8AD026-B548-412B-9411-C694B3F0A89F}"/>
              </a:ext>
            </a:extLst>
          </p:cNvPr>
          <p:cNvGrpSpPr/>
          <p:nvPr/>
        </p:nvGrpSpPr>
        <p:grpSpPr>
          <a:xfrm>
            <a:off x="7050768" y="993662"/>
            <a:ext cx="3711574" cy="1570830"/>
            <a:chOff x="6615340" y="1108236"/>
            <a:chExt cx="3711574" cy="157083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AF2C7FE-4264-4F19-97AB-365BA3847EE6}"/>
                </a:ext>
              </a:extLst>
            </p:cNvPr>
            <p:cNvSpPr/>
            <p:nvPr/>
          </p:nvSpPr>
          <p:spPr>
            <a:xfrm>
              <a:off x="6615340" y="1108236"/>
              <a:ext cx="3711574" cy="1570830"/>
            </a:xfrm>
            <a:prstGeom prst="roundRect">
              <a:avLst/>
            </a:prstGeom>
            <a:solidFill>
              <a:srgbClr val="0094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D3B2B7-01F2-4453-9CF9-E6FBF1C13F1B}"/>
                </a:ext>
              </a:extLst>
            </p:cNvPr>
            <p:cNvSpPr txBox="1"/>
            <p:nvPr/>
          </p:nvSpPr>
          <p:spPr>
            <a:xfrm>
              <a:off x="7666474" y="1409838"/>
              <a:ext cx="26325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Recognition &amp; Exposure</a:t>
              </a:r>
              <a:endParaRPr lang="en-US" sz="1400" b="1" dirty="0">
                <a:solidFill>
                  <a:schemeClr val="bg1"/>
                </a:solidFill>
                <a:latin typeface="SamsungOne 700" panose="020B0803030303020204" pitchFamily="34" charset="0"/>
                <a:ea typeface="SamsungOne 700" panose="020B0803030303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D19EC9-4C2C-496B-B8C7-61E6A98C0F9E}"/>
                </a:ext>
              </a:extLst>
            </p:cNvPr>
            <p:cNvSpPr txBox="1"/>
            <p:nvPr/>
          </p:nvSpPr>
          <p:spPr>
            <a:xfrm>
              <a:off x="7649482" y="1831936"/>
              <a:ext cx="2434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solidFill>
                    <a:schemeClr val="bg1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Showcase your ideas and stand out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94D00E0-2FC5-4C56-B716-94B764995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15340" y="1287610"/>
              <a:ext cx="1215057" cy="1215057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4AD2E6-1E0E-41C0-9786-1A050E5E2961}"/>
              </a:ext>
            </a:extLst>
          </p:cNvPr>
          <p:cNvGrpSpPr/>
          <p:nvPr/>
        </p:nvGrpSpPr>
        <p:grpSpPr>
          <a:xfrm>
            <a:off x="1250880" y="3096583"/>
            <a:ext cx="3769248" cy="1570830"/>
            <a:chOff x="815452" y="3258165"/>
            <a:chExt cx="3769248" cy="157083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5A41F56-E217-423E-80A2-4AAF0D5A9135}"/>
                </a:ext>
              </a:extLst>
            </p:cNvPr>
            <p:cNvSpPr/>
            <p:nvPr/>
          </p:nvSpPr>
          <p:spPr>
            <a:xfrm>
              <a:off x="873126" y="3258165"/>
              <a:ext cx="3711574" cy="1570830"/>
            </a:xfrm>
            <a:prstGeom prst="roundRect">
              <a:avLst/>
            </a:prstGeom>
            <a:solidFill>
              <a:srgbClr val="0094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5C4E86-5073-4600-88BD-036A44245C9A}"/>
                </a:ext>
              </a:extLst>
            </p:cNvPr>
            <p:cNvSpPr txBox="1"/>
            <p:nvPr/>
          </p:nvSpPr>
          <p:spPr>
            <a:xfrm>
              <a:off x="1865086" y="3354950"/>
              <a:ext cx="26325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PRISM Worklet Opportunities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50AD94-EBFF-490B-96F0-FB6B2F899D90}"/>
                </a:ext>
              </a:extLst>
            </p:cNvPr>
            <p:cNvSpPr txBox="1"/>
            <p:nvPr/>
          </p:nvSpPr>
          <p:spPr>
            <a:xfrm>
              <a:off x="1966475" y="3969500"/>
              <a:ext cx="243407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solidFill>
                    <a:schemeClr val="bg1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Top performers get a chance to work on </a:t>
              </a:r>
              <a:r>
                <a:rPr lang="en-IN" sz="1400" b="1" dirty="0">
                  <a:solidFill>
                    <a:schemeClr val="bg1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Samsung PRISM </a:t>
              </a:r>
              <a:r>
                <a:rPr lang="en-IN" sz="1400" dirty="0">
                  <a:solidFill>
                    <a:schemeClr val="bg1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worklets as </a:t>
              </a:r>
              <a:r>
                <a:rPr lang="en-IN" sz="1400" b="1" dirty="0">
                  <a:solidFill>
                    <a:schemeClr val="bg1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Virtual Interns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FDED886-BDBD-471A-8AD0-817592ED3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7546" y="3856943"/>
              <a:ext cx="888253" cy="58254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5BEBC7-1DBD-4DAA-B035-289E5E4E5A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biLevel thresh="25000"/>
            </a:blip>
            <a:srcRect t="38275" b="39065"/>
            <a:stretch/>
          </p:blipFill>
          <p:spPr>
            <a:xfrm>
              <a:off x="815452" y="3601046"/>
              <a:ext cx="1372443" cy="310999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163E53-6B4D-4A1C-BAE0-8D029E9BC54C}"/>
              </a:ext>
            </a:extLst>
          </p:cNvPr>
          <p:cNvGrpSpPr/>
          <p:nvPr/>
        </p:nvGrpSpPr>
        <p:grpSpPr>
          <a:xfrm>
            <a:off x="7111077" y="3108251"/>
            <a:ext cx="3711574" cy="1570830"/>
            <a:chOff x="7725683" y="3280552"/>
            <a:chExt cx="3711574" cy="157083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4FA9744-DD7A-4654-B553-8EF68990572F}"/>
                </a:ext>
              </a:extLst>
            </p:cNvPr>
            <p:cNvSpPr/>
            <p:nvPr/>
          </p:nvSpPr>
          <p:spPr>
            <a:xfrm>
              <a:off x="7725683" y="3280552"/>
              <a:ext cx="3711574" cy="1570830"/>
            </a:xfrm>
            <a:prstGeom prst="roundRect">
              <a:avLst/>
            </a:prstGeom>
            <a:solidFill>
              <a:srgbClr val="0094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8CA7FA-0A4B-450D-8BEA-DCF005E47A07}"/>
                </a:ext>
              </a:extLst>
            </p:cNvPr>
            <p:cNvSpPr txBox="1"/>
            <p:nvPr/>
          </p:nvSpPr>
          <p:spPr>
            <a:xfrm>
              <a:off x="8804695" y="3543138"/>
              <a:ext cx="26325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Cash Rewards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432F5A-4A95-4F04-BE93-F31AFF1538FD}"/>
                </a:ext>
              </a:extLst>
            </p:cNvPr>
            <p:cNvSpPr txBox="1"/>
            <p:nvPr/>
          </p:nvSpPr>
          <p:spPr>
            <a:xfrm>
              <a:off x="8906084" y="3963364"/>
              <a:ext cx="2434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solidFill>
                    <a:schemeClr val="bg1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Win exciting cash prizes for top teams</a:t>
              </a:r>
            </a:p>
          </p:txBody>
        </p:sp>
        <p:pic>
          <p:nvPicPr>
            <p:cNvPr id="25" name="Graphic 24" descr="Money with solid fill">
              <a:extLst>
                <a:ext uri="{FF2B5EF4-FFF2-40B4-BE49-F238E27FC236}">
                  <a16:creationId xmlns:a16="http://schemas.microsoft.com/office/drawing/2014/main" id="{647A13E8-5F21-4459-8BED-B12CC1872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52119" y="3580619"/>
              <a:ext cx="914400" cy="9144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AC0900-D02E-4136-81E1-E3B55C884873}"/>
              </a:ext>
            </a:extLst>
          </p:cNvPr>
          <p:cNvGrpSpPr/>
          <p:nvPr/>
        </p:nvGrpSpPr>
        <p:grpSpPr>
          <a:xfrm>
            <a:off x="4240213" y="4937077"/>
            <a:ext cx="3711574" cy="1570830"/>
            <a:chOff x="4329341" y="5125681"/>
            <a:chExt cx="3711574" cy="157083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0416CC1-5A68-43E5-8EFA-BED01322F0EA}"/>
                </a:ext>
              </a:extLst>
            </p:cNvPr>
            <p:cNvSpPr/>
            <p:nvPr/>
          </p:nvSpPr>
          <p:spPr>
            <a:xfrm>
              <a:off x="4329341" y="5125681"/>
              <a:ext cx="3711574" cy="1570830"/>
            </a:xfrm>
            <a:prstGeom prst="roundRect">
              <a:avLst/>
            </a:prstGeom>
            <a:solidFill>
              <a:srgbClr val="0094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8FF709-D428-4D17-A9AD-7F1FDCD7C7FC}"/>
                </a:ext>
              </a:extLst>
            </p:cNvPr>
            <p:cNvSpPr txBox="1"/>
            <p:nvPr/>
          </p:nvSpPr>
          <p:spPr>
            <a:xfrm>
              <a:off x="5359368" y="5339672"/>
              <a:ext cx="26325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Hands-on Practical Learning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B64482-4DC0-4789-9C28-7F52DED7F570}"/>
                </a:ext>
              </a:extLst>
            </p:cNvPr>
            <p:cNvSpPr txBox="1"/>
            <p:nvPr/>
          </p:nvSpPr>
          <p:spPr>
            <a:xfrm>
              <a:off x="5460757" y="5955842"/>
              <a:ext cx="24340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>
                  <a:solidFill>
                    <a:schemeClr val="bg1"/>
                  </a:solidFill>
                  <a:latin typeface="SamsungOne 500" panose="020B0603030303020204" pitchFamily="34" charset="0"/>
                  <a:ea typeface="SamsungOne 500" panose="020B0603030303020204" pitchFamily="34" charset="0"/>
                </a:rPr>
                <a:t>Go from idea → prototype in a fast-paced hackathon</a:t>
              </a:r>
            </a:p>
          </p:txBody>
        </p:sp>
        <p:pic>
          <p:nvPicPr>
            <p:cNvPr id="27" name="Graphic 26" descr="Group brainstorm with solid fill">
              <a:extLst>
                <a:ext uri="{FF2B5EF4-FFF2-40B4-BE49-F238E27FC236}">
                  <a16:creationId xmlns:a16="http://schemas.microsoft.com/office/drawing/2014/main" id="{AE642EEC-7ECB-4B82-8320-D0600E011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45903" y="5453896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861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926962" y="3083642"/>
            <a:ext cx="51324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The registration is now open!</a:t>
            </a:r>
          </a:p>
          <a:p>
            <a:pPr algn="ctr"/>
            <a:r>
              <a:rPr lang="en-US" sz="4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Find it </a:t>
            </a:r>
            <a:r>
              <a:rPr lang="en-US" sz="4000" b="1" dirty="0">
                <a:latin typeface="Berlin Sans FB Demi" panose="020E0802020502020306" pitchFamily="34" charset="0"/>
                <a:ea typeface="SamsungOne 800" panose="020B0903030303020204" pitchFamily="34" charset="0"/>
                <a:hlinkClick r:id="rId4"/>
              </a:rPr>
              <a:t>here</a:t>
            </a:r>
            <a:r>
              <a:rPr lang="en-US" sz="4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.</a:t>
            </a:r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694875" y="1399995"/>
            <a:ext cx="5596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Thank You!</a:t>
            </a:r>
            <a:endParaRPr lang="en-IN" sz="72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372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9670</TotalTime>
  <Words>2031</Words>
  <Application>Microsoft Office PowerPoint</Application>
  <PresentationFormat>Widescreen</PresentationFormat>
  <Paragraphs>310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Berlin Sans FB Demi</vt:lpstr>
      <vt:lpstr>Calibri</vt:lpstr>
      <vt:lpstr>Calibri Light</vt:lpstr>
      <vt:lpstr>Courier New</vt:lpstr>
      <vt:lpstr>SamsungOne 500</vt:lpstr>
      <vt:lpstr>SamsungOne 700</vt:lpstr>
      <vt:lpstr>SamsungOne 800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Prakhar Chandrakar ./PRISM /SRI-Bangalore/Professional/Samsung Electronics</cp:lastModifiedBy>
  <cp:revision>87</cp:revision>
  <dcterms:created xsi:type="dcterms:W3CDTF">2025-12-11T08:35:46Z</dcterms:created>
  <dcterms:modified xsi:type="dcterms:W3CDTF">2026-04-20T12:05:36Z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